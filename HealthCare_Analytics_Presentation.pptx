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F27CBD-80A5-4A84-BAC8-95A3753F1973}" v="1" dt="2026-09-21T03:57:44.6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deep Sarkar" userId="d21d20263e62353c" providerId="LiveId" clId="{B794B383-E2F6-4D95-8DC4-3E0283E5A6A5}"/>
    <pc:docChg chg="undo redo custSel modSld">
      <pc:chgData name="Sudeep Sarkar" userId="d21d20263e62353c" providerId="LiveId" clId="{B794B383-E2F6-4D95-8DC4-3E0283E5A6A5}" dt="2026-09-21T04:11:47.806" v="113" actId="1037"/>
      <pc:docMkLst>
        <pc:docMk/>
      </pc:docMkLst>
      <pc:sldChg chg="modSp mod">
        <pc:chgData name="Sudeep Sarkar" userId="d21d20263e62353c" providerId="LiveId" clId="{B794B383-E2F6-4D95-8DC4-3E0283E5A6A5}" dt="2026-09-21T03:32:50.749" v="33" actId="20577"/>
        <pc:sldMkLst>
          <pc:docMk/>
          <pc:sldMk cId="0" sldId="258"/>
        </pc:sldMkLst>
        <pc:spChg chg="mod">
          <ac:chgData name="Sudeep Sarkar" userId="d21d20263e62353c" providerId="LiveId" clId="{B794B383-E2F6-4D95-8DC4-3E0283E5A6A5}" dt="2026-09-21T03:32:50.749" v="33" actId="20577"/>
          <ac:spMkLst>
            <pc:docMk/>
            <pc:sldMk cId="0" sldId="258"/>
            <ac:spMk id="8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2:39.675" v="31" actId="20577"/>
          <ac:spMkLst>
            <pc:docMk/>
            <pc:sldMk cId="0" sldId="258"/>
            <ac:spMk id="12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2:15.802" v="5" actId="20577"/>
          <ac:spMkLst>
            <pc:docMk/>
            <pc:sldMk cId="0" sldId="258"/>
            <ac:spMk id="16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1:10.570" v="0" actId="14100"/>
          <ac:spMkLst>
            <pc:docMk/>
            <pc:sldMk cId="0" sldId="258"/>
            <ac:spMk id="19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1:17.398" v="1" actId="14100"/>
          <ac:spMkLst>
            <pc:docMk/>
            <pc:sldMk cId="0" sldId="258"/>
            <ac:spMk id="20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1:21.807" v="2" actId="14100"/>
          <ac:spMkLst>
            <pc:docMk/>
            <pc:sldMk cId="0" sldId="258"/>
            <ac:spMk id="21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31:34.062" v="3" actId="14100"/>
          <ac:spMkLst>
            <pc:docMk/>
            <pc:sldMk cId="0" sldId="258"/>
            <ac:spMk id="27" creationId="{00000000-0000-0000-0000-000000000000}"/>
          </ac:spMkLst>
        </pc:spChg>
      </pc:sldChg>
      <pc:sldChg chg="addSp delSp modSp mod">
        <pc:chgData name="Sudeep Sarkar" userId="d21d20263e62353c" providerId="LiveId" clId="{B794B383-E2F6-4D95-8DC4-3E0283E5A6A5}" dt="2026-09-21T03:52:17.720" v="65" actId="14100"/>
        <pc:sldMkLst>
          <pc:docMk/>
          <pc:sldMk cId="0" sldId="259"/>
        </pc:sldMkLst>
        <pc:spChg chg="mod">
          <ac:chgData name="Sudeep Sarkar" userId="d21d20263e62353c" providerId="LiveId" clId="{B794B383-E2F6-4D95-8DC4-3E0283E5A6A5}" dt="2026-09-21T03:51:42.884" v="59" actId="14100"/>
          <ac:spMkLst>
            <pc:docMk/>
            <pc:sldMk cId="0" sldId="259"/>
            <ac:spMk id="5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51:47.513" v="60" actId="1410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51:50.560" v="61" actId="14100"/>
          <ac:spMkLst>
            <pc:docMk/>
            <pc:sldMk cId="0" sldId="259"/>
            <ac:spMk id="19" creationId="{00000000-0000-0000-0000-000000000000}"/>
          </ac:spMkLst>
        </pc:spChg>
        <pc:spChg chg="add del">
          <ac:chgData name="Sudeep Sarkar" userId="d21d20263e62353c" providerId="LiveId" clId="{B794B383-E2F6-4D95-8DC4-3E0283E5A6A5}" dt="2026-09-21T03:51:13.953" v="50" actId="478"/>
          <ac:spMkLst>
            <pc:docMk/>
            <pc:sldMk cId="0" sldId="259"/>
            <ac:spMk id="26" creationId="{00000000-0000-0000-0000-000000000000}"/>
          </ac:spMkLst>
        </pc:spChg>
        <pc:spChg chg="add del">
          <ac:chgData name="Sudeep Sarkar" userId="d21d20263e62353c" providerId="LiveId" clId="{B794B383-E2F6-4D95-8DC4-3E0283E5A6A5}" dt="2026-09-21T03:51:14.570" v="51" actId="478"/>
          <ac:spMkLst>
            <pc:docMk/>
            <pc:sldMk cId="0" sldId="259"/>
            <ac:spMk id="27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52:06.932" v="63" actId="1076"/>
          <ac:spMkLst>
            <pc:docMk/>
            <pc:sldMk cId="0" sldId="259"/>
            <ac:spMk id="31" creationId="{00000000-0000-0000-0000-000000000000}"/>
          </ac:spMkLst>
        </pc:spChg>
        <pc:picChg chg="add mod">
          <ac:chgData name="Sudeep Sarkar" userId="d21d20263e62353c" providerId="LiveId" clId="{B794B383-E2F6-4D95-8DC4-3E0283E5A6A5}" dt="2026-09-21T03:52:17.720" v="65" actId="14100"/>
          <ac:picMkLst>
            <pc:docMk/>
            <pc:sldMk cId="0" sldId="259"/>
            <ac:picMk id="33" creationId="{7C0FA3F8-9592-58BA-64DF-24B46F7C13B2}"/>
          </ac:picMkLst>
        </pc:picChg>
      </pc:sldChg>
      <pc:sldChg chg="addSp delSp modSp mod">
        <pc:chgData name="Sudeep Sarkar" userId="d21d20263e62353c" providerId="LiveId" clId="{B794B383-E2F6-4D95-8DC4-3E0283E5A6A5}" dt="2026-09-21T03:50:01.208" v="45" actId="1076"/>
        <pc:sldMkLst>
          <pc:docMk/>
          <pc:sldMk cId="0" sldId="260"/>
        </pc:sldMkLst>
        <pc:spChg chg="mod">
          <ac:chgData name="Sudeep Sarkar" userId="d21d20263e62353c" providerId="LiveId" clId="{B794B383-E2F6-4D95-8DC4-3E0283E5A6A5}" dt="2026-09-21T03:50:01.208" v="45" actId="1076"/>
          <ac:spMkLst>
            <pc:docMk/>
            <pc:sldMk cId="0" sldId="260"/>
            <ac:spMk id="18" creationId="{00000000-0000-0000-0000-000000000000}"/>
          </ac:spMkLst>
        </pc:spChg>
        <pc:graphicFrameChg chg="add del">
          <ac:chgData name="Sudeep Sarkar" userId="d21d20263e62353c" providerId="LiveId" clId="{B794B383-E2F6-4D95-8DC4-3E0283E5A6A5}" dt="2026-09-21T03:49:44.164" v="41" actId="478"/>
          <ac:graphicFrameMkLst>
            <pc:docMk/>
            <pc:sldMk cId="0" sldId="260"/>
            <ac:graphicFrameMk id="19" creationId="{00000000-0000-0000-0000-000000000000}"/>
          </ac:graphicFrameMkLst>
        </pc:graphicFrameChg>
        <pc:picChg chg="add mod">
          <ac:chgData name="Sudeep Sarkar" userId="d21d20263e62353c" providerId="LiveId" clId="{B794B383-E2F6-4D95-8DC4-3E0283E5A6A5}" dt="2026-09-21T03:49:56.437" v="44" actId="1076"/>
          <ac:picMkLst>
            <pc:docMk/>
            <pc:sldMk cId="0" sldId="260"/>
            <ac:picMk id="21" creationId="{C147C3A1-C570-8AE1-6667-38CABEB550F7}"/>
          </ac:picMkLst>
        </pc:picChg>
      </pc:sldChg>
      <pc:sldChg chg="addSp delSp modSp mod">
        <pc:chgData name="Sudeep Sarkar" userId="d21d20263e62353c" providerId="LiveId" clId="{B794B383-E2F6-4D95-8DC4-3E0283E5A6A5}" dt="2026-09-21T03:53:19.837" v="68" actId="478"/>
        <pc:sldMkLst>
          <pc:docMk/>
          <pc:sldMk cId="0" sldId="261"/>
        </pc:sldMkLst>
        <pc:picChg chg="add del mod">
          <ac:chgData name="Sudeep Sarkar" userId="d21d20263e62353c" providerId="LiveId" clId="{B794B383-E2F6-4D95-8DC4-3E0283E5A6A5}" dt="2026-09-21T03:53:19.837" v="68" actId="478"/>
          <ac:picMkLst>
            <pc:docMk/>
            <pc:sldMk cId="0" sldId="261"/>
            <ac:picMk id="33" creationId="{519EB89A-FCE2-2463-278E-1FEFD04094E3}"/>
          </ac:picMkLst>
        </pc:picChg>
      </pc:sldChg>
      <pc:sldChg chg="addSp delSp modSp mod">
        <pc:chgData name="Sudeep Sarkar" userId="d21d20263e62353c" providerId="LiveId" clId="{B794B383-E2F6-4D95-8DC4-3E0283E5A6A5}" dt="2026-09-21T04:11:47.806" v="113" actId="1037"/>
        <pc:sldMkLst>
          <pc:docMk/>
          <pc:sldMk cId="0" sldId="264"/>
        </pc:sldMkLst>
        <pc:spChg chg="del">
          <ac:chgData name="Sudeep Sarkar" userId="d21d20263e62353c" providerId="LiveId" clId="{B794B383-E2F6-4D95-8DC4-3E0283E5A6A5}" dt="2026-09-21T03:54:19.538" v="76" actId="478"/>
          <ac:spMkLst>
            <pc:docMk/>
            <pc:sldMk cId="0" sldId="264"/>
            <ac:spMk id="5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57:33.419" v="82" actId="1076"/>
          <ac:spMkLst>
            <pc:docMk/>
            <pc:sldMk cId="0" sldId="264"/>
            <ac:spMk id="6" creationId="{00000000-0000-0000-0000-000000000000}"/>
          </ac:spMkLst>
        </pc:spChg>
        <pc:spChg chg="mod">
          <ac:chgData name="Sudeep Sarkar" userId="d21d20263e62353c" providerId="LiveId" clId="{B794B383-E2F6-4D95-8DC4-3E0283E5A6A5}" dt="2026-09-21T03:58:37.760" v="90" actId="1076"/>
          <ac:spMkLst>
            <pc:docMk/>
            <pc:sldMk cId="0" sldId="264"/>
            <ac:spMk id="9" creationId="{00000000-0000-0000-0000-000000000000}"/>
          </ac:spMkLst>
        </pc:spChg>
        <pc:spChg chg="del">
          <ac:chgData name="Sudeep Sarkar" userId="d21d20263e62353c" providerId="LiveId" clId="{B794B383-E2F6-4D95-8DC4-3E0283E5A6A5}" dt="2026-09-21T03:57:41.944" v="83" actId="478"/>
          <ac:spMkLst>
            <pc:docMk/>
            <pc:sldMk cId="0" sldId="264"/>
            <ac:spMk id="10" creationId="{00000000-0000-0000-0000-000000000000}"/>
          </ac:spMkLst>
        </pc:spChg>
        <pc:spChg chg="del">
          <ac:chgData name="Sudeep Sarkar" userId="d21d20263e62353c" providerId="LiveId" clId="{B794B383-E2F6-4D95-8DC4-3E0283E5A6A5}" dt="2026-09-21T03:59:10.706" v="95" actId="478"/>
          <ac:spMkLst>
            <pc:docMk/>
            <pc:sldMk cId="0" sldId="264"/>
            <ac:spMk id="14" creationId="{00000000-0000-0000-0000-000000000000}"/>
          </ac:spMkLst>
        </pc:spChg>
        <pc:graphicFrameChg chg="del">
          <ac:chgData name="Sudeep Sarkar" userId="d21d20263e62353c" providerId="LiveId" clId="{B794B383-E2F6-4D95-8DC4-3E0283E5A6A5}" dt="2026-09-21T03:54:21.240" v="77" actId="478"/>
          <ac:graphicFrameMkLst>
            <pc:docMk/>
            <pc:sldMk cId="0" sldId="264"/>
            <ac:graphicFrameMk id="8" creationId="{00000000-0000-0000-0000-000000000000}"/>
          </ac:graphicFrameMkLst>
        </pc:graphicFrameChg>
        <pc:graphicFrameChg chg="del">
          <ac:chgData name="Sudeep Sarkar" userId="d21d20263e62353c" providerId="LiveId" clId="{B794B383-E2F6-4D95-8DC4-3E0283E5A6A5}" dt="2026-09-21T03:57:47.440" v="84" actId="478"/>
          <ac:graphicFrameMkLst>
            <pc:docMk/>
            <pc:sldMk cId="0" sldId="264"/>
            <ac:graphicFrameMk id="13" creationId="{00000000-0000-0000-0000-000000000000}"/>
          </ac:graphicFrameMkLst>
        </pc:graphicFrameChg>
        <pc:graphicFrameChg chg="del">
          <ac:chgData name="Sudeep Sarkar" userId="d21d20263e62353c" providerId="LiveId" clId="{B794B383-E2F6-4D95-8DC4-3E0283E5A6A5}" dt="2026-09-21T03:59:13.431" v="96" actId="478"/>
          <ac:graphicFrameMkLst>
            <pc:docMk/>
            <pc:sldMk cId="0" sldId="264"/>
            <ac:graphicFrameMk id="17" creationId="{00000000-0000-0000-0000-000000000000}"/>
          </ac:graphicFrameMkLst>
        </pc:graphicFrameChg>
        <pc:picChg chg="add mod">
          <ac:chgData name="Sudeep Sarkar" userId="d21d20263e62353c" providerId="LiveId" clId="{B794B383-E2F6-4D95-8DC4-3E0283E5A6A5}" dt="2026-09-21T04:11:40.407" v="109" actId="1037"/>
          <ac:picMkLst>
            <pc:docMk/>
            <pc:sldMk cId="0" sldId="264"/>
            <ac:picMk id="19" creationId="{52FC133F-2116-44D1-FD43-5B02CDFCD546}"/>
          </ac:picMkLst>
        </pc:picChg>
        <pc:picChg chg="add mod">
          <ac:chgData name="Sudeep Sarkar" userId="d21d20263e62353c" providerId="LiveId" clId="{B794B383-E2F6-4D95-8DC4-3E0283E5A6A5}" dt="2026-09-21T04:11:44.481" v="111" actId="1037"/>
          <ac:picMkLst>
            <pc:docMk/>
            <pc:sldMk cId="0" sldId="264"/>
            <ac:picMk id="21" creationId="{A766222D-B977-9C1C-BF97-552A32826140}"/>
          </ac:picMkLst>
        </pc:picChg>
        <pc:picChg chg="add mod">
          <ac:chgData name="Sudeep Sarkar" userId="d21d20263e62353c" providerId="LiveId" clId="{B794B383-E2F6-4D95-8DC4-3E0283E5A6A5}" dt="2026-09-21T04:11:47.806" v="113" actId="1037"/>
          <ac:picMkLst>
            <pc:docMk/>
            <pc:sldMk cId="0" sldId="264"/>
            <ac:picMk id="23" creationId="{7A7EA116-F69D-FE53-2C22-795BEA0AB00D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Appointments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C74-4C34-BF08-06ABBA15BE2A}"/>
              </c:ext>
            </c:extLst>
          </c:dPt>
          <c:dPt>
            <c:idx val="1"/>
            <c:invertIfNegative val="0"/>
            <c:bubble3D val="0"/>
            <c:spPr>
              <a:solidFill>
                <a:srgbClr val="4FB0A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74-4C34-BF08-06ABBA15BE2A}"/>
              </c:ext>
            </c:extLst>
          </c:dPt>
          <c:dPt>
            <c:idx val="2"/>
            <c:invertIfNegative val="0"/>
            <c:bubble3D val="0"/>
            <c:spPr>
              <a:solidFill>
                <a:srgbClr val="E155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74-4C34-BF08-06ABBA15BE2A}"/>
              </c:ext>
            </c:extLst>
          </c:dPt>
          <c:dPt>
            <c:idx val="3"/>
            <c:invertIfNegative val="0"/>
            <c:bubble3D val="0"/>
            <c:spPr>
              <a:solidFill>
                <a:srgbClr val="E1555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74-4C34-BF08-06ABBA15BE2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7302E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Completed</c:v>
                </c:pt>
                <c:pt idx="1">
                  <c:v>Scheduled</c:v>
                </c:pt>
                <c:pt idx="2">
                  <c:v>Cancelled</c:v>
                </c:pt>
                <c:pt idx="3">
                  <c:v>No-show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</c:v>
                </c:pt>
                <c:pt idx="1">
                  <c:v>51</c:v>
                </c:pt>
                <c:pt idx="2">
                  <c:v>51</c:v>
                </c:pt>
                <c:pt idx="3">
                  <c:v>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C74-4C34-BF08-06ABBA15BE2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B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9167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780EC1-7333-0B22-6B16-099631768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11DB3A-7F85-4A8F-C545-A72A1DF3F8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2684" y="6430724"/>
            <a:ext cx="708721" cy="266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3309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Hospitals and clinics generate patient, appointment, treatment and billing data across disconnected systems. Without a unified view, it's hard to spot operational issues — like rising no-shows or a billing shortfall — in time to act. This project consolidates five operational datasets into a single Power BI model to monitor patient flow, doctor performance, and revenue health.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EEF7F6"/>
          </a:solidFill>
          <a:ln/>
        </p:spPr>
      </p:sp>
      <p:sp>
        <p:nvSpPr>
          <p:cNvPr id="6" name="Shape 4"/>
          <p:cNvSpPr/>
          <p:nvPr/>
        </p:nvSpPr>
        <p:spPr>
          <a:xfrm>
            <a:off x="1943100" y="290322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7" name="Shape 5"/>
          <p:cNvSpPr/>
          <p:nvPr/>
        </p:nvSpPr>
        <p:spPr>
          <a:xfrm>
            <a:off x="2149069" y="327629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8972" y="316748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2428875" y="322966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9319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&amp; Appointment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57200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visit volume, status, and no-show patterns across 200 appointments.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80560" y="260604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EEF7F6"/>
          </a:solidFill>
          <a:ln/>
        </p:spPr>
      </p:sp>
      <p:sp>
        <p:nvSpPr>
          <p:cNvPr id="13" name="Shape 11"/>
          <p:cNvSpPr/>
          <p:nvPr/>
        </p:nvSpPr>
        <p:spPr>
          <a:xfrm>
            <a:off x="5783580" y="290322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4" name="Shape 12"/>
          <p:cNvSpPr/>
          <p:nvPr/>
        </p:nvSpPr>
        <p:spPr>
          <a:xfrm>
            <a:off x="5989549" y="327629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9452" y="316748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269355" y="322966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709160" y="39319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Performance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7200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caseload, specialization mix, and workload across 10 doctors.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321040" y="2606040"/>
            <a:ext cx="3383280" cy="2926080"/>
          </a:xfrm>
          <a:prstGeom prst="roundRect">
            <a:avLst>
              <a:gd name="adj" fmla="val 2500"/>
            </a:avLst>
          </a:prstGeom>
          <a:solidFill>
            <a:srgbClr val="EEF7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624060" y="290322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30029" y="327629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9969932" y="316748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0109835" y="322966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549640" y="3931920"/>
            <a:ext cx="29260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&amp; Billing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595360" y="457200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billed vs. collected amounts and flag payment risk early.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64008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relational Power BI data model connecting Patients, Doctors, Appointments, Treatments and Billing into a single source of truth — enabling DAX-driven KPIs and a 3-page interactive dashboard.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640080" cy="64008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6974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08760" y="26974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30175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5 source tables — Patients, Doctors, Appointments, Treatments, Billing — covering 200 appointment records.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931920"/>
            <a:ext cx="640080" cy="64008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931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0876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08760" y="425196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the tables into a star schema via patient_id, doctor_id, appointment_id and treatment_id.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640080" cy="64008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166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08760" y="51663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08760" y="548640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DAX measures and a 3-page report: Executive Dashboard, Doctors’ Performance, and Financials.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52360" y="1371600"/>
            <a:ext cx="4069080" cy="4937760"/>
          </a:xfrm>
          <a:prstGeom prst="roundRect">
            <a:avLst>
              <a:gd name="adj" fmla="val 1798"/>
            </a:avLst>
          </a:prstGeom>
          <a:solidFill>
            <a:srgbClr val="EEF7F6"/>
          </a:solidFill>
          <a:ln/>
        </p:spPr>
      </p:sp>
      <p:sp>
        <p:nvSpPr>
          <p:cNvPr id="18" name="Shape 16"/>
          <p:cNvSpPr/>
          <p:nvPr/>
        </p:nvSpPr>
        <p:spPr>
          <a:xfrm>
            <a:off x="9025128" y="1874520"/>
            <a:ext cx="914400" cy="91440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9" name="Shape 17"/>
          <p:cNvSpPr/>
          <p:nvPr/>
        </p:nvSpPr>
        <p:spPr>
          <a:xfrm>
            <a:off x="9267444" y="2194560"/>
            <a:ext cx="100584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9432036" y="2258568"/>
            <a:ext cx="100584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96628" y="2194560"/>
            <a:ext cx="100584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0" y="2926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82328" y="2788920"/>
            <a:ext cx="0" cy="1051560"/>
          </a:xfrm>
          <a:prstGeom prst="line">
            <a:avLst/>
          </a:prstGeom>
          <a:noFill/>
          <a:ln w="25400">
            <a:solidFill>
              <a:srgbClr val="4FB0A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9025128" y="3383280"/>
            <a:ext cx="914400" cy="91440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25" name="Shape 23"/>
          <p:cNvSpPr/>
          <p:nvPr/>
        </p:nvSpPr>
        <p:spPr>
          <a:xfrm>
            <a:off x="9267444" y="3822192"/>
            <a:ext cx="100584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9432036" y="3694176"/>
            <a:ext cx="100584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9596628" y="3822192"/>
            <a:ext cx="100584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0" y="4434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482328" y="4297680"/>
            <a:ext cx="0" cy="1051560"/>
          </a:xfrm>
          <a:prstGeom prst="line">
            <a:avLst/>
          </a:prstGeom>
          <a:noFill/>
          <a:ln w="25400">
            <a:solidFill>
              <a:srgbClr val="4FB0A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9025128" y="4892040"/>
            <a:ext cx="914400" cy="91440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31" name="Shape 29"/>
          <p:cNvSpPr/>
          <p:nvPr/>
        </p:nvSpPr>
        <p:spPr>
          <a:xfrm>
            <a:off x="9267444" y="5330952"/>
            <a:ext cx="100584" cy="2011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9432036" y="5202936"/>
            <a:ext cx="100584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9596628" y="5276088"/>
            <a:ext cx="100584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7680960" y="5943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TECHNIQUES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Techniques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Power BI methods used to build a governed, interactive analytics model.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61143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6" name="Shape 4"/>
          <p:cNvSpPr/>
          <p:nvPr/>
        </p:nvSpPr>
        <p:spPr>
          <a:xfrm>
            <a:off x="982980" y="2423160"/>
            <a:ext cx="594360" cy="59436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7" name="Shape 5"/>
          <p:cNvSpPr/>
          <p:nvPr/>
        </p:nvSpPr>
        <p:spPr>
          <a:xfrm>
            <a:off x="1140485" y="2708453"/>
            <a:ext cx="65380" cy="1307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247470" y="2625242"/>
            <a:ext cx="65380" cy="2139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354455" y="2672791"/>
            <a:ext cx="65380" cy="1664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783080" y="22677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783080" y="267004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modeling, table relationships, and multi-page report design.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61143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13" name="Shape 11"/>
          <p:cNvSpPr/>
          <p:nvPr/>
        </p:nvSpPr>
        <p:spPr>
          <a:xfrm>
            <a:off x="982980" y="3840480"/>
            <a:ext cx="594360" cy="59436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0485" y="4125773"/>
            <a:ext cx="65380" cy="1307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1247470" y="4042562"/>
            <a:ext cx="65380" cy="2139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354455" y="4090111"/>
            <a:ext cx="65380" cy="1664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1783080" y="36850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 &amp; Calculated Columns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783080" y="408736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CALCULATE, DIVIDE and FILTER patterns for rate and retention KPIs.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937760"/>
            <a:ext cx="561143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20" name="Shape 18"/>
          <p:cNvSpPr/>
          <p:nvPr/>
        </p:nvSpPr>
        <p:spPr>
          <a:xfrm>
            <a:off x="982980" y="5257800"/>
            <a:ext cx="594360" cy="59436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0485" y="5543093"/>
            <a:ext cx="65380" cy="1307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247470" y="5459882"/>
            <a:ext cx="65380" cy="2139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354455" y="5507431"/>
            <a:ext cx="65380" cy="16642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1783080" y="5102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Modeling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783080" y="550468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fact table linked to Patient, Doctor, Treatment and Billing dimensions.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9009583" y="3754526"/>
            <a:ext cx="221285" cy="4425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9371686" y="3472891"/>
            <a:ext cx="221285" cy="72420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9733788" y="3633826"/>
            <a:ext cx="221285" cy="5632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7764171" y="5623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ENTIRELY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POWER BI</a:t>
            </a:r>
            <a:endParaRPr lang="en-US" sz="13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C0FA3F8-9592-58BA-64DF-24B46F7C1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000" y="2103120"/>
            <a:ext cx="5541582" cy="34518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Overview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</a:t>
            </a:r>
            <a:r>
              <a:rPr lang="en-US" sz="140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2023 — December 2023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covers 200 appointments linked to 50 registered patients and 10 doctors across 3 hospital branches and 3 specializations, with matching treatment and billing records for every visit.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EEF7F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303580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37033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0233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active in 2023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26080" y="288036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EEF7F6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303580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2926080" y="37033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017520" y="40233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branches · 3 specializations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212080" y="288036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EEF7F6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0" y="303580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5212080" y="37033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303520" y="402336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– Dec 2023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95968" y="16459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 by Specialization</a:t>
            </a:r>
            <a:endParaRPr lang="en-US" sz="13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147C3A1-C570-8AE1-6667-38CABEB55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4708" y="2027727"/>
            <a:ext cx="4035505" cy="26289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&amp; RELATIONSHIPS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&amp; Relationships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sits at the center as the fact table, linking Patient and Doctor dimensions and cascading into Treatments and Billing for a complete patient-to-payment view.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EEF7F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50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Calculated Fields (Measures)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715768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 Rate, Cancellation Rate, Completion Rate, Patient Retention, Avg Treatment Cost, Total Billed vs Collected — built with CALCULATE + DIVIDE.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2148840"/>
            <a:ext cx="5257800" cy="1737360"/>
          </a:xfrm>
          <a:prstGeom prst="roundRect">
            <a:avLst>
              <a:gd name="adj" fmla="val 4211"/>
            </a:avLst>
          </a:prstGeom>
          <a:solidFill>
            <a:srgbClr val="EEF7F6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2350008"/>
            <a:ext cx="4709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(Calculated Columns)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37960" y="2715768"/>
            <a:ext cx="4709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Age Group, Appointment Month and Doctor Experience Band, added for segmentation and chronological sorting.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Flow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5720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EEF7F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68172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patient_id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017520" y="45720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EEF7F6"/>
          </a:solidFill>
          <a:ln/>
        </p:spPr>
      </p:sp>
      <p:sp>
        <p:nvSpPr>
          <p:cNvPr id="16" name="Text 14"/>
          <p:cNvSpPr/>
          <p:nvPr/>
        </p:nvSpPr>
        <p:spPr>
          <a:xfrm>
            <a:off x="3017520" y="468172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017520" y="5029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doctor_id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212080" y="45720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1B998B"/>
          </a:solidFill>
          <a:ln/>
        </p:spPr>
      </p:sp>
      <p:sp>
        <p:nvSpPr>
          <p:cNvPr id="19" name="Text 17"/>
          <p:cNvSpPr/>
          <p:nvPr/>
        </p:nvSpPr>
        <p:spPr>
          <a:xfrm>
            <a:off x="5212080" y="468172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212080" y="5029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appointment_id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06640" y="45720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EEF7F6"/>
          </a:solidFill>
          <a:ln/>
        </p:spPr>
      </p:sp>
      <p:sp>
        <p:nvSpPr>
          <p:cNvPr id="22" name="Text 20"/>
          <p:cNvSpPr/>
          <p:nvPr/>
        </p:nvSpPr>
        <p:spPr>
          <a:xfrm>
            <a:off x="7406640" y="468172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06640" y="502920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treatment_id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601200" y="45720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EEF7F6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0" y="468172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2560320" y="4960620"/>
            <a:ext cx="457200" cy="0"/>
          </a:xfrm>
          <a:prstGeom prst="line">
            <a:avLst/>
          </a:prstGeom>
          <a:noFill/>
          <a:ln w="25400">
            <a:solidFill>
              <a:srgbClr val="4FB0A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754880" y="4960620"/>
            <a:ext cx="457200" cy="0"/>
          </a:xfrm>
          <a:prstGeom prst="line">
            <a:avLst/>
          </a:prstGeom>
          <a:noFill/>
          <a:ln w="25400">
            <a:solidFill>
              <a:srgbClr val="4FB0AE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949440" y="4960620"/>
            <a:ext cx="457200" cy="0"/>
          </a:xfrm>
          <a:prstGeom prst="line">
            <a:avLst/>
          </a:prstGeom>
          <a:noFill/>
          <a:ln w="25400">
            <a:solidFill>
              <a:srgbClr val="4FB0AE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144000" y="4960620"/>
            <a:ext cx="457200" cy="0"/>
          </a:xfrm>
          <a:prstGeom prst="line">
            <a:avLst/>
          </a:prstGeom>
          <a:noFill/>
          <a:ln w="25400">
            <a:solidFill>
              <a:srgbClr val="4FB0AE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212080" y="5440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Table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DASHBOARDS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 &amp; Dashboards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report pages moving from patient-level detail to financial performance — 22 visuals in total.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EEF7F6"/>
          </a:solidFill>
          <a:ln/>
        </p:spPr>
      </p:sp>
      <p:sp>
        <p:nvSpPr>
          <p:cNvPr id="6" name="Shape 4"/>
          <p:cNvSpPr/>
          <p:nvPr/>
        </p:nvSpPr>
        <p:spPr>
          <a:xfrm>
            <a:off x="1943100" y="226314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7" name="Shape 5"/>
          <p:cNvSpPr/>
          <p:nvPr/>
        </p:nvSpPr>
        <p:spPr>
          <a:xfrm>
            <a:off x="2149069" y="263621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2288972" y="252740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2428875" y="258958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2918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3794760"/>
            <a:ext cx="2834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KPI cards, an appointment-trend area chart, status donut &amp; pie, and a branch slicer.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5074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visuals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80560" y="19659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EEF7F6"/>
          </a:solidFill>
          <a:ln/>
        </p:spPr>
      </p:sp>
      <p:sp>
        <p:nvSpPr>
          <p:cNvPr id="14" name="Shape 12"/>
          <p:cNvSpPr/>
          <p:nvPr/>
        </p:nvSpPr>
        <p:spPr>
          <a:xfrm>
            <a:off x="5783580" y="226314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5" name="Shape 13"/>
          <p:cNvSpPr/>
          <p:nvPr/>
        </p:nvSpPr>
        <p:spPr>
          <a:xfrm>
            <a:off x="5989549" y="263621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9452" y="252740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269355" y="258958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709160" y="32918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Doctors’ Performance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54880" y="3794760"/>
            <a:ext cx="2834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chart of appointments by doctor, specialization funnels, trend area chart, and a patient slicer.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5074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visuals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321040" y="19659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EEF7F6"/>
          </a:solidFill>
          <a:ln/>
        </p:spPr>
      </p:sp>
      <p:sp>
        <p:nvSpPr>
          <p:cNvPr id="22" name="Shape 20"/>
          <p:cNvSpPr/>
          <p:nvPr/>
        </p:nvSpPr>
        <p:spPr>
          <a:xfrm>
            <a:off x="9624060" y="2263140"/>
            <a:ext cx="777240" cy="77724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23" name="Shape 21"/>
          <p:cNvSpPr/>
          <p:nvPr/>
        </p:nvSpPr>
        <p:spPr>
          <a:xfrm>
            <a:off x="9830029" y="2636215"/>
            <a:ext cx="85496" cy="1709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9969932" y="2527402"/>
            <a:ext cx="85496" cy="27980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10109835" y="2589581"/>
            <a:ext cx="85496" cy="21762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549640" y="32918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595360" y="3794760"/>
            <a:ext cx="2834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Payment-status pie, billed-vs-collected line chart, a billing detail table, and a payment funnel.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595360" y="5074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visuals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Summary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₹5.51L billed across 200 appointments in 2023 — but only 31.5% has been collected, while no-shows and cancellations together account for over half of all bookings.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7744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487168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999232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67712" y="237744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9" name="Text 7"/>
          <p:cNvSpPr/>
          <p:nvPr/>
        </p:nvSpPr>
        <p:spPr>
          <a:xfrm>
            <a:off x="2267712" y="2487168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155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267712" y="2999232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95344" y="237744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12" name="Text 10"/>
          <p:cNvSpPr/>
          <p:nvPr/>
        </p:nvSpPr>
        <p:spPr>
          <a:xfrm>
            <a:off x="3895344" y="2487168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155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31.5%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895344" y="2999232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522976" y="2377440"/>
            <a:ext cx="1508760" cy="1234440"/>
          </a:xfrm>
          <a:prstGeom prst="roundRect">
            <a:avLst>
              <a:gd name="adj" fmla="val 5926"/>
            </a:avLst>
          </a:prstGeom>
          <a:solidFill>
            <a:srgbClr val="EEF7F6"/>
          </a:solidFill>
          <a:ln/>
        </p:spPr>
      </p:sp>
      <p:sp>
        <p:nvSpPr>
          <p:cNvPr id="15" name="Text 13"/>
          <p:cNvSpPr/>
          <p:nvPr/>
        </p:nvSpPr>
        <p:spPr>
          <a:xfrm>
            <a:off x="5522976" y="2487168"/>
            <a:ext cx="1508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522976" y="2999232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10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452360" y="13258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by Status</a:t>
            </a:r>
            <a:endParaRPr lang="en-US" sz="125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7452360" y="1645920"/>
          <a:ext cx="406908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Shape 16"/>
          <p:cNvSpPr/>
          <p:nvPr/>
        </p:nvSpPr>
        <p:spPr>
          <a:xfrm>
            <a:off x="640080" y="397764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EEF7F6"/>
          </a:solidFill>
          <a:ln/>
        </p:spPr>
      </p:sp>
      <p:sp>
        <p:nvSpPr>
          <p:cNvPr id="20" name="Text 17"/>
          <p:cNvSpPr/>
          <p:nvPr/>
        </p:nvSpPr>
        <p:spPr>
          <a:xfrm>
            <a:off x="868680" y="41605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868680" y="457200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patient retention — every active patient returned for a repeat visit.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480560" y="397764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EEF7F6"/>
          </a:solidFill>
          <a:ln/>
        </p:spPr>
      </p:sp>
      <p:sp>
        <p:nvSpPr>
          <p:cNvPr id="23" name="Text 20"/>
          <p:cNvSpPr/>
          <p:nvPr/>
        </p:nvSpPr>
        <p:spPr>
          <a:xfrm>
            <a:off x="4709160" y="41605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Opportunities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709160" y="457200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No-shows and cancellations together exceed completed visits — reminder workflows could recover capacity.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8321040" y="397764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EEF7F6"/>
          </a:solidFill>
          <a:ln/>
        </p:spPr>
      </p:sp>
      <p:sp>
        <p:nvSpPr>
          <p:cNvPr id="26" name="Text 23"/>
          <p:cNvSpPr/>
          <p:nvPr/>
        </p:nvSpPr>
        <p:spPr>
          <a:xfrm>
            <a:off x="8549640" y="4160520"/>
            <a:ext cx="3063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Improvements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8549640" y="4572000"/>
            <a:ext cx="3063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Chase the 68.5% of billed revenue still pending or failed, starting with the largest balances.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3-page interactive Power BI report — Executive Dashboard, Doctors’ Performance, and Financials.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77240" y="2011680"/>
            <a:ext cx="3246120" cy="411480"/>
          </a:xfrm>
          <a:prstGeom prst="roundRect">
            <a:avLst>
              <a:gd name="adj" fmla="val 11111"/>
            </a:avLst>
          </a:prstGeom>
          <a:solidFill>
            <a:srgbClr val="0B3D3D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77240" y="5577840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7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total appointments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17720" y="2011680"/>
            <a:ext cx="3246120" cy="411480"/>
          </a:xfrm>
          <a:prstGeom prst="roundRect">
            <a:avLst>
              <a:gd name="adj" fmla="val 11111"/>
            </a:avLst>
          </a:prstGeom>
          <a:solidFill>
            <a:srgbClr val="0B3D3D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Doctors’ Performance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458200" y="2011680"/>
            <a:ext cx="3246120" cy="411480"/>
          </a:xfrm>
          <a:prstGeom prst="roundRect">
            <a:avLst>
              <a:gd name="adj" fmla="val 11111"/>
            </a:avLst>
          </a:prstGeom>
          <a:solidFill>
            <a:srgbClr val="0B3D3D"/>
          </a:solidFill>
          <a:ln/>
        </p:spPr>
      </p:sp>
      <p:sp>
        <p:nvSpPr>
          <p:cNvPr id="16" name="Text 12"/>
          <p:cNvSpPr/>
          <p:nvPr/>
        </p:nvSpPr>
        <p:spPr>
          <a:xfrm>
            <a:off x="8458200" y="2011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</a:t>
            </a:r>
            <a:endParaRPr lang="en-US" sz="11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2FC133F-2116-44D1-FD43-5B02CDFCD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859" y="2508624"/>
            <a:ext cx="4175760" cy="303547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766222D-B977-9C1C-BF97-552A328261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019" y="2508624"/>
            <a:ext cx="4023359" cy="303547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A7EA116-F69D-FE53-2C22-795BEA0AB0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02378" y="2496920"/>
            <a:ext cx="3807811" cy="3035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Learning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64922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delivered a governed Power BI model that unifies patient, doctor, treatment and billing data to answer questions about operational efficiency, doctor workload, and revenue collection. Building it strengthened skills in star-schema relationship design, DAX pattern-building (CALCULATE, DIVIDE, FILTER), and turning raw rates into decision-ready KPIs for a non-technical audience.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EEF7F6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4078224"/>
            <a:ext cx="201168" cy="201168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931920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553712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EEF7F6"/>
          </a:solidFill>
          <a:ln/>
        </p:spPr>
      </p:sp>
      <p:sp>
        <p:nvSpPr>
          <p:cNvPr id="9" name="Shape 7"/>
          <p:cNvSpPr/>
          <p:nvPr/>
        </p:nvSpPr>
        <p:spPr>
          <a:xfrm>
            <a:off x="822960" y="4700016"/>
            <a:ext cx="201168" cy="201168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553712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Measures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5175504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EEF7F6"/>
          </a:solidFill>
          <a:ln/>
        </p:spPr>
      </p:sp>
      <p:sp>
        <p:nvSpPr>
          <p:cNvPr id="12" name="Shape 10"/>
          <p:cNvSpPr/>
          <p:nvPr/>
        </p:nvSpPr>
        <p:spPr>
          <a:xfrm>
            <a:off x="822960" y="5321808"/>
            <a:ext cx="201168" cy="201168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5175504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Storytelling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5797296"/>
            <a:ext cx="2926080" cy="502920"/>
          </a:xfrm>
          <a:prstGeom prst="roundRect">
            <a:avLst>
              <a:gd name="adj" fmla="val 50909"/>
            </a:avLst>
          </a:prstGeom>
          <a:solidFill>
            <a:srgbClr val="EEF7F6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5943600"/>
            <a:ext cx="201168" cy="201168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797296"/>
            <a:ext cx="2331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73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52360" y="1371600"/>
            <a:ext cx="4069080" cy="4937760"/>
          </a:xfrm>
          <a:prstGeom prst="roundRect">
            <a:avLst>
              <a:gd name="adj" fmla="val 1798"/>
            </a:avLst>
          </a:prstGeom>
          <a:solidFill>
            <a:srgbClr val="0B3D3D"/>
          </a:solidFill>
          <a:ln/>
        </p:spPr>
      </p:sp>
      <p:sp>
        <p:nvSpPr>
          <p:cNvPr id="18" name="Shape 16"/>
          <p:cNvSpPr/>
          <p:nvPr/>
        </p:nvSpPr>
        <p:spPr>
          <a:xfrm>
            <a:off x="8567928" y="2377440"/>
            <a:ext cx="1828800" cy="1828800"/>
          </a:xfrm>
          <a:prstGeom prst="ellipse">
            <a:avLst/>
          </a:prstGeom>
          <a:solidFill>
            <a:srgbClr val="1B998B"/>
          </a:solidFill>
          <a:ln/>
        </p:spPr>
      </p:sp>
      <p:sp>
        <p:nvSpPr>
          <p:cNvPr id="19" name="Shape 17"/>
          <p:cNvSpPr/>
          <p:nvPr/>
        </p:nvSpPr>
        <p:spPr>
          <a:xfrm>
            <a:off x="9052560" y="3255264"/>
            <a:ext cx="201168" cy="402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9381744" y="2999232"/>
            <a:ext cx="201168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710928" y="3145536"/>
            <a:ext cx="201168" cy="5120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680960" y="44348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DATA</a:t>
            </a:r>
            <a:endParaRPr lang="en-US" sz="14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DECISIONS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005840"/>
            <a:ext cx="3291840" cy="3291840"/>
          </a:xfrm>
          <a:prstGeom prst="ellipse">
            <a:avLst/>
          </a:prstGeom>
          <a:solidFill>
            <a:srgbClr val="1B998B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-274320"/>
            <a:ext cx="2011680" cy="2011680"/>
          </a:xfrm>
          <a:prstGeom prst="ellipse">
            <a:avLst/>
          </a:prstGeom>
          <a:solidFill>
            <a:srgbClr val="4FB0AE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548640"/>
            <a:ext cx="1005840" cy="1005840"/>
          </a:xfrm>
          <a:prstGeom prst="ellipse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2468880"/>
            <a:ext cx="9144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04672" y="34290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4FB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are Welcome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04672" y="4023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7EC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appreciate your time and interest in the Healthcare Analytics Dashboard.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809</Words>
  <Application>Microsoft Office PowerPoint</Application>
  <PresentationFormat>Widescreen</PresentationFormat>
  <Paragraphs>133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Sudeep Sarkar</cp:lastModifiedBy>
  <cp:revision>2</cp:revision>
  <dcterms:created xsi:type="dcterms:W3CDTF">2026-09-20T19:54:37Z</dcterms:created>
  <dcterms:modified xsi:type="dcterms:W3CDTF">2026-09-21T04:11:56Z</dcterms:modified>
</cp:coreProperties>
</file>