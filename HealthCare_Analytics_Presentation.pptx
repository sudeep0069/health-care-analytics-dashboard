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rts/chart1.xml" ContentType="application/vnd.openxmlformats-officedocument.drawingml.chart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67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BF27CBD-80A5-4A84-BAC8-95A3753F1973}" v="1" dt="2026-09-21T03:57:44.67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691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udeep Sarkar" userId="d21d20263e62353c" providerId="LiveId" clId="{B794B383-E2F6-4D95-8DC4-3E0283E5A6A5}"/>
    <pc:docChg chg="undo redo custSel modSld">
      <pc:chgData name="Sudeep Sarkar" userId="d21d20263e62353c" providerId="LiveId" clId="{B794B383-E2F6-4D95-8DC4-3E0283E5A6A5}" dt="2026-09-21T05:48:56.439" v="142" actId="20577"/>
      <pc:docMkLst>
        <pc:docMk/>
      </pc:docMkLst>
      <pc:sldChg chg="modSp mod">
        <pc:chgData name="Sudeep Sarkar" userId="d21d20263e62353c" providerId="LiveId" clId="{B794B383-E2F6-4D95-8DC4-3E0283E5A6A5}" dt="2026-09-21T03:32:50.749" v="33" actId="20577"/>
        <pc:sldMkLst>
          <pc:docMk/>
          <pc:sldMk cId="0" sldId="258"/>
        </pc:sldMkLst>
        <pc:spChg chg="mod">
          <ac:chgData name="Sudeep Sarkar" userId="d21d20263e62353c" providerId="LiveId" clId="{B794B383-E2F6-4D95-8DC4-3E0283E5A6A5}" dt="2026-09-21T03:32:50.749" v="33" actId="20577"/>
          <ac:spMkLst>
            <pc:docMk/>
            <pc:sldMk cId="0" sldId="258"/>
            <ac:spMk id="8" creationId="{00000000-0000-0000-0000-000000000000}"/>
          </ac:spMkLst>
        </pc:spChg>
        <pc:spChg chg="mod">
          <ac:chgData name="Sudeep Sarkar" userId="d21d20263e62353c" providerId="LiveId" clId="{B794B383-E2F6-4D95-8DC4-3E0283E5A6A5}" dt="2026-09-21T03:32:39.675" v="31" actId="20577"/>
          <ac:spMkLst>
            <pc:docMk/>
            <pc:sldMk cId="0" sldId="258"/>
            <ac:spMk id="12" creationId="{00000000-0000-0000-0000-000000000000}"/>
          </ac:spMkLst>
        </pc:spChg>
        <pc:spChg chg="mod">
          <ac:chgData name="Sudeep Sarkar" userId="d21d20263e62353c" providerId="LiveId" clId="{B794B383-E2F6-4D95-8DC4-3E0283E5A6A5}" dt="2026-09-21T03:32:15.802" v="5" actId="20577"/>
          <ac:spMkLst>
            <pc:docMk/>
            <pc:sldMk cId="0" sldId="258"/>
            <ac:spMk id="16" creationId="{00000000-0000-0000-0000-000000000000}"/>
          </ac:spMkLst>
        </pc:spChg>
        <pc:spChg chg="mod">
          <ac:chgData name="Sudeep Sarkar" userId="d21d20263e62353c" providerId="LiveId" clId="{B794B383-E2F6-4D95-8DC4-3E0283E5A6A5}" dt="2026-09-21T03:31:10.570" v="0" actId="14100"/>
          <ac:spMkLst>
            <pc:docMk/>
            <pc:sldMk cId="0" sldId="258"/>
            <ac:spMk id="19" creationId="{00000000-0000-0000-0000-000000000000}"/>
          </ac:spMkLst>
        </pc:spChg>
        <pc:spChg chg="mod">
          <ac:chgData name="Sudeep Sarkar" userId="d21d20263e62353c" providerId="LiveId" clId="{B794B383-E2F6-4D95-8DC4-3E0283E5A6A5}" dt="2026-09-21T03:31:17.398" v="1" actId="14100"/>
          <ac:spMkLst>
            <pc:docMk/>
            <pc:sldMk cId="0" sldId="258"/>
            <ac:spMk id="20" creationId="{00000000-0000-0000-0000-000000000000}"/>
          </ac:spMkLst>
        </pc:spChg>
        <pc:spChg chg="mod">
          <ac:chgData name="Sudeep Sarkar" userId="d21d20263e62353c" providerId="LiveId" clId="{B794B383-E2F6-4D95-8DC4-3E0283E5A6A5}" dt="2026-09-21T03:31:21.807" v="2" actId="14100"/>
          <ac:spMkLst>
            <pc:docMk/>
            <pc:sldMk cId="0" sldId="258"/>
            <ac:spMk id="21" creationId="{00000000-0000-0000-0000-000000000000}"/>
          </ac:spMkLst>
        </pc:spChg>
        <pc:spChg chg="mod">
          <ac:chgData name="Sudeep Sarkar" userId="d21d20263e62353c" providerId="LiveId" clId="{B794B383-E2F6-4D95-8DC4-3E0283E5A6A5}" dt="2026-09-21T03:31:34.062" v="3" actId="14100"/>
          <ac:spMkLst>
            <pc:docMk/>
            <pc:sldMk cId="0" sldId="258"/>
            <ac:spMk id="27" creationId="{00000000-0000-0000-0000-000000000000}"/>
          </ac:spMkLst>
        </pc:spChg>
      </pc:sldChg>
      <pc:sldChg chg="addSp delSp modSp mod">
        <pc:chgData name="Sudeep Sarkar" userId="d21d20263e62353c" providerId="LiveId" clId="{B794B383-E2F6-4D95-8DC4-3E0283E5A6A5}" dt="2026-09-21T03:52:17.720" v="65" actId="14100"/>
        <pc:sldMkLst>
          <pc:docMk/>
          <pc:sldMk cId="0" sldId="259"/>
        </pc:sldMkLst>
        <pc:spChg chg="mod">
          <ac:chgData name="Sudeep Sarkar" userId="d21d20263e62353c" providerId="LiveId" clId="{B794B383-E2F6-4D95-8DC4-3E0283E5A6A5}" dt="2026-09-21T03:51:42.884" v="59" actId="14100"/>
          <ac:spMkLst>
            <pc:docMk/>
            <pc:sldMk cId="0" sldId="259"/>
            <ac:spMk id="5" creationId="{00000000-0000-0000-0000-000000000000}"/>
          </ac:spMkLst>
        </pc:spChg>
        <pc:spChg chg="mod">
          <ac:chgData name="Sudeep Sarkar" userId="d21d20263e62353c" providerId="LiveId" clId="{B794B383-E2F6-4D95-8DC4-3E0283E5A6A5}" dt="2026-09-21T03:51:47.513" v="60" actId="14100"/>
          <ac:spMkLst>
            <pc:docMk/>
            <pc:sldMk cId="0" sldId="259"/>
            <ac:spMk id="12" creationId="{00000000-0000-0000-0000-000000000000}"/>
          </ac:spMkLst>
        </pc:spChg>
        <pc:spChg chg="mod">
          <ac:chgData name="Sudeep Sarkar" userId="d21d20263e62353c" providerId="LiveId" clId="{B794B383-E2F6-4D95-8DC4-3E0283E5A6A5}" dt="2026-09-21T03:51:50.560" v="61" actId="14100"/>
          <ac:spMkLst>
            <pc:docMk/>
            <pc:sldMk cId="0" sldId="259"/>
            <ac:spMk id="19" creationId="{00000000-0000-0000-0000-000000000000}"/>
          </ac:spMkLst>
        </pc:spChg>
        <pc:spChg chg="add del">
          <ac:chgData name="Sudeep Sarkar" userId="d21d20263e62353c" providerId="LiveId" clId="{B794B383-E2F6-4D95-8DC4-3E0283E5A6A5}" dt="2026-09-21T03:51:13.953" v="50" actId="478"/>
          <ac:spMkLst>
            <pc:docMk/>
            <pc:sldMk cId="0" sldId="259"/>
            <ac:spMk id="26" creationId="{00000000-0000-0000-0000-000000000000}"/>
          </ac:spMkLst>
        </pc:spChg>
        <pc:spChg chg="add del">
          <ac:chgData name="Sudeep Sarkar" userId="d21d20263e62353c" providerId="LiveId" clId="{B794B383-E2F6-4D95-8DC4-3E0283E5A6A5}" dt="2026-09-21T03:51:14.570" v="51" actId="478"/>
          <ac:spMkLst>
            <pc:docMk/>
            <pc:sldMk cId="0" sldId="259"/>
            <ac:spMk id="27" creationId="{00000000-0000-0000-0000-000000000000}"/>
          </ac:spMkLst>
        </pc:spChg>
        <pc:spChg chg="mod">
          <ac:chgData name="Sudeep Sarkar" userId="d21d20263e62353c" providerId="LiveId" clId="{B794B383-E2F6-4D95-8DC4-3E0283E5A6A5}" dt="2026-09-21T03:52:06.932" v="63" actId="1076"/>
          <ac:spMkLst>
            <pc:docMk/>
            <pc:sldMk cId="0" sldId="259"/>
            <ac:spMk id="31" creationId="{00000000-0000-0000-0000-000000000000}"/>
          </ac:spMkLst>
        </pc:spChg>
        <pc:picChg chg="add mod">
          <ac:chgData name="Sudeep Sarkar" userId="d21d20263e62353c" providerId="LiveId" clId="{B794B383-E2F6-4D95-8DC4-3E0283E5A6A5}" dt="2026-09-21T03:52:17.720" v="65" actId="14100"/>
          <ac:picMkLst>
            <pc:docMk/>
            <pc:sldMk cId="0" sldId="259"/>
            <ac:picMk id="33" creationId="{7C0FA3F8-9592-58BA-64DF-24B46F7C13B2}"/>
          </ac:picMkLst>
        </pc:picChg>
      </pc:sldChg>
      <pc:sldChg chg="addSp delSp modSp mod">
        <pc:chgData name="Sudeep Sarkar" userId="d21d20263e62353c" providerId="LiveId" clId="{B794B383-E2F6-4D95-8DC4-3E0283E5A6A5}" dt="2026-09-21T03:50:01.208" v="45" actId="1076"/>
        <pc:sldMkLst>
          <pc:docMk/>
          <pc:sldMk cId="0" sldId="260"/>
        </pc:sldMkLst>
        <pc:spChg chg="mod">
          <ac:chgData name="Sudeep Sarkar" userId="d21d20263e62353c" providerId="LiveId" clId="{B794B383-E2F6-4D95-8DC4-3E0283E5A6A5}" dt="2026-09-21T03:50:01.208" v="45" actId="1076"/>
          <ac:spMkLst>
            <pc:docMk/>
            <pc:sldMk cId="0" sldId="260"/>
            <ac:spMk id="18" creationId="{00000000-0000-0000-0000-000000000000}"/>
          </ac:spMkLst>
        </pc:spChg>
        <pc:graphicFrameChg chg="add del">
          <ac:chgData name="Sudeep Sarkar" userId="d21d20263e62353c" providerId="LiveId" clId="{B794B383-E2F6-4D95-8DC4-3E0283E5A6A5}" dt="2026-09-21T03:49:44.164" v="41" actId="478"/>
          <ac:graphicFrameMkLst>
            <pc:docMk/>
            <pc:sldMk cId="0" sldId="260"/>
            <ac:graphicFrameMk id="19" creationId="{00000000-0000-0000-0000-000000000000}"/>
          </ac:graphicFrameMkLst>
        </pc:graphicFrameChg>
        <pc:picChg chg="add mod">
          <ac:chgData name="Sudeep Sarkar" userId="d21d20263e62353c" providerId="LiveId" clId="{B794B383-E2F6-4D95-8DC4-3E0283E5A6A5}" dt="2026-09-21T03:49:56.437" v="44" actId="1076"/>
          <ac:picMkLst>
            <pc:docMk/>
            <pc:sldMk cId="0" sldId="260"/>
            <ac:picMk id="21" creationId="{C147C3A1-C570-8AE1-6667-38CABEB550F7}"/>
          </ac:picMkLst>
        </pc:picChg>
      </pc:sldChg>
      <pc:sldChg chg="addSp delSp modSp mod">
        <pc:chgData name="Sudeep Sarkar" userId="d21d20263e62353c" providerId="LiveId" clId="{B794B383-E2F6-4D95-8DC4-3E0283E5A6A5}" dt="2026-09-21T03:53:19.837" v="68" actId="478"/>
        <pc:sldMkLst>
          <pc:docMk/>
          <pc:sldMk cId="0" sldId="261"/>
        </pc:sldMkLst>
        <pc:picChg chg="add del mod">
          <ac:chgData name="Sudeep Sarkar" userId="d21d20263e62353c" providerId="LiveId" clId="{B794B383-E2F6-4D95-8DC4-3E0283E5A6A5}" dt="2026-09-21T03:53:19.837" v="68" actId="478"/>
          <ac:picMkLst>
            <pc:docMk/>
            <pc:sldMk cId="0" sldId="261"/>
            <ac:picMk id="33" creationId="{519EB89A-FCE2-2463-278E-1FEFD04094E3}"/>
          </ac:picMkLst>
        </pc:picChg>
      </pc:sldChg>
      <pc:sldChg chg="modSp mod">
        <pc:chgData name="Sudeep Sarkar" userId="d21d20263e62353c" providerId="LiveId" clId="{B794B383-E2F6-4D95-8DC4-3E0283E5A6A5}" dt="2026-09-21T05:48:56.439" v="142" actId="20577"/>
        <pc:sldMkLst>
          <pc:docMk/>
          <pc:sldMk cId="0" sldId="263"/>
        </pc:sldMkLst>
        <pc:spChg chg="mod">
          <ac:chgData name="Sudeep Sarkar" userId="d21d20263e62353c" providerId="LiveId" clId="{B794B383-E2F6-4D95-8DC4-3E0283E5A6A5}" dt="2026-09-21T05:48:15.311" v="120" actId="20577"/>
          <ac:spMkLst>
            <pc:docMk/>
            <pc:sldMk cId="0" sldId="263"/>
            <ac:spMk id="16" creationId="{00000000-0000-0000-0000-000000000000}"/>
          </ac:spMkLst>
        </pc:spChg>
        <pc:spChg chg="mod">
          <ac:chgData name="Sudeep Sarkar" userId="d21d20263e62353c" providerId="LiveId" clId="{B794B383-E2F6-4D95-8DC4-3E0283E5A6A5}" dt="2026-09-21T05:48:56.439" v="142" actId="20577"/>
          <ac:spMkLst>
            <pc:docMk/>
            <pc:sldMk cId="0" sldId="263"/>
            <ac:spMk id="24" creationId="{00000000-0000-0000-0000-000000000000}"/>
          </ac:spMkLst>
        </pc:spChg>
      </pc:sldChg>
      <pc:sldChg chg="addSp delSp modSp mod">
        <pc:chgData name="Sudeep Sarkar" userId="d21d20263e62353c" providerId="LiveId" clId="{B794B383-E2F6-4D95-8DC4-3E0283E5A6A5}" dt="2026-09-21T04:11:47.806" v="113" actId="1037"/>
        <pc:sldMkLst>
          <pc:docMk/>
          <pc:sldMk cId="0" sldId="264"/>
        </pc:sldMkLst>
        <pc:spChg chg="del">
          <ac:chgData name="Sudeep Sarkar" userId="d21d20263e62353c" providerId="LiveId" clId="{B794B383-E2F6-4D95-8DC4-3E0283E5A6A5}" dt="2026-09-21T03:54:19.538" v="76" actId="478"/>
          <ac:spMkLst>
            <pc:docMk/>
            <pc:sldMk cId="0" sldId="264"/>
            <ac:spMk id="5" creationId="{00000000-0000-0000-0000-000000000000}"/>
          </ac:spMkLst>
        </pc:spChg>
        <pc:spChg chg="mod">
          <ac:chgData name="Sudeep Sarkar" userId="d21d20263e62353c" providerId="LiveId" clId="{B794B383-E2F6-4D95-8DC4-3E0283E5A6A5}" dt="2026-09-21T03:57:33.419" v="82" actId="1076"/>
          <ac:spMkLst>
            <pc:docMk/>
            <pc:sldMk cId="0" sldId="264"/>
            <ac:spMk id="6" creationId="{00000000-0000-0000-0000-000000000000}"/>
          </ac:spMkLst>
        </pc:spChg>
        <pc:spChg chg="mod">
          <ac:chgData name="Sudeep Sarkar" userId="d21d20263e62353c" providerId="LiveId" clId="{B794B383-E2F6-4D95-8DC4-3E0283E5A6A5}" dt="2026-09-21T03:58:37.760" v="90" actId="1076"/>
          <ac:spMkLst>
            <pc:docMk/>
            <pc:sldMk cId="0" sldId="264"/>
            <ac:spMk id="9" creationId="{00000000-0000-0000-0000-000000000000}"/>
          </ac:spMkLst>
        </pc:spChg>
        <pc:spChg chg="del">
          <ac:chgData name="Sudeep Sarkar" userId="d21d20263e62353c" providerId="LiveId" clId="{B794B383-E2F6-4D95-8DC4-3E0283E5A6A5}" dt="2026-09-21T03:57:41.944" v="83" actId="478"/>
          <ac:spMkLst>
            <pc:docMk/>
            <pc:sldMk cId="0" sldId="264"/>
            <ac:spMk id="10" creationId="{00000000-0000-0000-0000-000000000000}"/>
          </ac:spMkLst>
        </pc:spChg>
        <pc:spChg chg="del">
          <ac:chgData name="Sudeep Sarkar" userId="d21d20263e62353c" providerId="LiveId" clId="{B794B383-E2F6-4D95-8DC4-3E0283E5A6A5}" dt="2026-09-21T03:59:10.706" v="95" actId="478"/>
          <ac:spMkLst>
            <pc:docMk/>
            <pc:sldMk cId="0" sldId="264"/>
            <ac:spMk id="14" creationId="{00000000-0000-0000-0000-000000000000}"/>
          </ac:spMkLst>
        </pc:spChg>
        <pc:graphicFrameChg chg="del">
          <ac:chgData name="Sudeep Sarkar" userId="d21d20263e62353c" providerId="LiveId" clId="{B794B383-E2F6-4D95-8DC4-3E0283E5A6A5}" dt="2026-09-21T03:54:21.240" v="77" actId="478"/>
          <ac:graphicFrameMkLst>
            <pc:docMk/>
            <pc:sldMk cId="0" sldId="264"/>
            <ac:graphicFrameMk id="8" creationId="{00000000-0000-0000-0000-000000000000}"/>
          </ac:graphicFrameMkLst>
        </pc:graphicFrameChg>
        <pc:graphicFrameChg chg="del">
          <ac:chgData name="Sudeep Sarkar" userId="d21d20263e62353c" providerId="LiveId" clId="{B794B383-E2F6-4D95-8DC4-3E0283E5A6A5}" dt="2026-09-21T03:57:47.440" v="84" actId="478"/>
          <ac:graphicFrameMkLst>
            <pc:docMk/>
            <pc:sldMk cId="0" sldId="264"/>
            <ac:graphicFrameMk id="13" creationId="{00000000-0000-0000-0000-000000000000}"/>
          </ac:graphicFrameMkLst>
        </pc:graphicFrameChg>
        <pc:graphicFrameChg chg="del">
          <ac:chgData name="Sudeep Sarkar" userId="d21d20263e62353c" providerId="LiveId" clId="{B794B383-E2F6-4D95-8DC4-3E0283E5A6A5}" dt="2026-09-21T03:59:13.431" v="96" actId="478"/>
          <ac:graphicFrameMkLst>
            <pc:docMk/>
            <pc:sldMk cId="0" sldId="264"/>
            <ac:graphicFrameMk id="17" creationId="{00000000-0000-0000-0000-000000000000}"/>
          </ac:graphicFrameMkLst>
        </pc:graphicFrameChg>
        <pc:picChg chg="add mod">
          <ac:chgData name="Sudeep Sarkar" userId="d21d20263e62353c" providerId="LiveId" clId="{B794B383-E2F6-4D95-8DC4-3E0283E5A6A5}" dt="2026-09-21T04:11:40.407" v="109" actId="1037"/>
          <ac:picMkLst>
            <pc:docMk/>
            <pc:sldMk cId="0" sldId="264"/>
            <ac:picMk id="19" creationId="{52FC133F-2116-44D1-FD43-5B02CDFCD546}"/>
          </ac:picMkLst>
        </pc:picChg>
        <pc:picChg chg="add mod">
          <ac:chgData name="Sudeep Sarkar" userId="d21d20263e62353c" providerId="LiveId" clId="{B794B383-E2F6-4D95-8DC4-3E0283E5A6A5}" dt="2026-09-21T04:11:44.481" v="111" actId="1037"/>
          <ac:picMkLst>
            <pc:docMk/>
            <pc:sldMk cId="0" sldId="264"/>
            <ac:picMk id="21" creationId="{A766222D-B977-9C1C-BF97-552A32826140}"/>
          </ac:picMkLst>
        </pc:picChg>
        <pc:picChg chg="add mod">
          <ac:chgData name="Sudeep Sarkar" userId="d21d20263e62353c" providerId="LiveId" clId="{B794B383-E2F6-4D95-8DC4-3E0283E5A6A5}" dt="2026-09-21T04:11:47.806" v="113" actId="1037"/>
          <ac:picMkLst>
            <pc:docMk/>
            <pc:sldMk cId="0" sldId="264"/>
            <ac:picMk id="23" creationId="{7A7EA116-F69D-FE53-2C22-795BEA0AB00D}"/>
          </ac:picMkLst>
        </pc:picChg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Appointments</c:v>
                </c:pt>
              </c:strCache>
            </c:strRef>
          </c:tx>
          <c:spPr>
            <a:solidFill>
              <a:srgbClr val="1B998B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AC74-4C34-BF08-06ABBA15BE2A}"/>
              </c:ext>
            </c:extLst>
          </c:dPt>
          <c:dPt>
            <c:idx val="1"/>
            <c:invertIfNegative val="0"/>
            <c:bubble3D val="0"/>
            <c:spPr>
              <a:solidFill>
                <a:srgbClr val="4FB0AE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AC74-4C34-BF08-06ABBA15BE2A}"/>
              </c:ext>
            </c:extLst>
          </c:dPt>
          <c:dPt>
            <c:idx val="2"/>
            <c:invertIfNegative val="0"/>
            <c:bubble3D val="0"/>
            <c:spPr>
              <a:solidFill>
                <a:srgbClr val="E1555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AC74-4C34-BF08-06ABBA15BE2A}"/>
              </c:ext>
            </c:extLst>
          </c:dPt>
          <c:dPt>
            <c:idx val="3"/>
            <c:invertIfNegative val="0"/>
            <c:bubble3D val="0"/>
            <c:spPr>
              <a:solidFill>
                <a:srgbClr val="E1555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AC74-4C34-BF08-06ABBA15BE2A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17302E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Completed</c:v>
                </c:pt>
                <c:pt idx="1">
                  <c:v>Scheduled</c:v>
                </c:pt>
                <c:pt idx="2">
                  <c:v>Cancelled</c:v>
                </c:pt>
                <c:pt idx="3">
                  <c:v>No-show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46</c:v>
                </c:pt>
                <c:pt idx="1">
                  <c:v>51</c:v>
                </c:pt>
                <c:pt idx="2">
                  <c:v>51</c:v>
                </c:pt>
                <c:pt idx="3">
                  <c:v>52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AC74-4C34-BF08-06ABBA15BE2A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C7B7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9916777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1780EC1-7333-0B22-6B16-099631768B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9" y="0"/>
            <a:ext cx="12185522" cy="68580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B11DB3A-7F85-4A8F-C545-A72A1DF3F8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02684" y="6430724"/>
            <a:ext cx="708721" cy="2667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13309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OVERVIEW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515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73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325880"/>
            <a:ext cx="108813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173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Hospitals and clinics generate patient, appointment, treatment and billing data across disconnected systems. Without a unified view, it's hard to spot operational issues — like rising no-shows or a billing shortfall — in time to act. This project consolidates five operational datasets into a single Power BI model to monitor patient flow, doctor performance, and revenue health.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3383280" cy="2926080"/>
          </a:xfrm>
          <a:prstGeom prst="roundRect">
            <a:avLst>
              <a:gd name="adj" fmla="val 2500"/>
            </a:avLst>
          </a:prstGeom>
          <a:solidFill>
            <a:srgbClr val="EEF7F6"/>
          </a:solidFill>
          <a:ln/>
        </p:spPr>
      </p:sp>
      <p:sp>
        <p:nvSpPr>
          <p:cNvPr id="6" name="Shape 4"/>
          <p:cNvSpPr/>
          <p:nvPr/>
        </p:nvSpPr>
        <p:spPr>
          <a:xfrm>
            <a:off x="1943100" y="2903220"/>
            <a:ext cx="777240" cy="777240"/>
          </a:xfrm>
          <a:prstGeom prst="ellipse">
            <a:avLst/>
          </a:prstGeom>
          <a:solidFill>
            <a:srgbClr val="1B998B"/>
          </a:solidFill>
          <a:ln/>
        </p:spPr>
      </p:sp>
      <p:sp>
        <p:nvSpPr>
          <p:cNvPr id="7" name="Shape 5"/>
          <p:cNvSpPr/>
          <p:nvPr/>
        </p:nvSpPr>
        <p:spPr>
          <a:xfrm>
            <a:off x="2149069" y="3276295"/>
            <a:ext cx="85496" cy="170993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" name="Shape 6"/>
          <p:cNvSpPr/>
          <p:nvPr/>
        </p:nvSpPr>
        <p:spPr>
          <a:xfrm>
            <a:off x="2288972" y="3167482"/>
            <a:ext cx="85496" cy="27980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" name="Shape 7"/>
          <p:cNvSpPr/>
          <p:nvPr/>
        </p:nvSpPr>
        <p:spPr>
          <a:xfrm>
            <a:off x="2428875" y="3229661"/>
            <a:ext cx="85496" cy="217627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Text 8"/>
          <p:cNvSpPr/>
          <p:nvPr/>
        </p:nvSpPr>
        <p:spPr>
          <a:xfrm>
            <a:off x="868680" y="3931920"/>
            <a:ext cx="292608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73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 &amp; Appointment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173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Tracking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914400" y="4572000"/>
            <a:ext cx="28346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150" dirty="0">
                <a:solidFill>
                  <a:srgbClr val="5C7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 visit volume, status, and no-show patterns across 200 appointments.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480560" y="2606040"/>
            <a:ext cx="3383280" cy="2926080"/>
          </a:xfrm>
          <a:prstGeom prst="roundRect">
            <a:avLst>
              <a:gd name="adj" fmla="val 2500"/>
            </a:avLst>
          </a:prstGeom>
          <a:solidFill>
            <a:srgbClr val="EEF7F6"/>
          </a:solidFill>
          <a:ln/>
        </p:spPr>
      </p:sp>
      <p:sp>
        <p:nvSpPr>
          <p:cNvPr id="13" name="Shape 11"/>
          <p:cNvSpPr/>
          <p:nvPr/>
        </p:nvSpPr>
        <p:spPr>
          <a:xfrm>
            <a:off x="5783580" y="2903220"/>
            <a:ext cx="777240" cy="777240"/>
          </a:xfrm>
          <a:prstGeom prst="ellipse">
            <a:avLst/>
          </a:prstGeom>
          <a:solidFill>
            <a:srgbClr val="1B998B"/>
          </a:solidFill>
          <a:ln/>
        </p:spPr>
      </p:sp>
      <p:sp>
        <p:nvSpPr>
          <p:cNvPr id="14" name="Shape 12"/>
          <p:cNvSpPr/>
          <p:nvPr/>
        </p:nvSpPr>
        <p:spPr>
          <a:xfrm>
            <a:off x="5989549" y="3276295"/>
            <a:ext cx="85496" cy="170993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" name="Shape 13"/>
          <p:cNvSpPr/>
          <p:nvPr/>
        </p:nvSpPr>
        <p:spPr>
          <a:xfrm>
            <a:off x="6129452" y="3167482"/>
            <a:ext cx="85496" cy="27980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Shape 14"/>
          <p:cNvSpPr/>
          <p:nvPr/>
        </p:nvSpPr>
        <p:spPr>
          <a:xfrm>
            <a:off x="6269355" y="3229661"/>
            <a:ext cx="85496" cy="217627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7" name="Text 15"/>
          <p:cNvSpPr/>
          <p:nvPr/>
        </p:nvSpPr>
        <p:spPr>
          <a:xfrm>
            <a:off x="4709160" y="3931920"/>
            <a:ext cx="292608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73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 Performance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754880" y="4572000"/>
            <a:ext cx="28346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150" dirty="0">
                <a:solidFill>
                  <a:srgbClr val="5C7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caseload, specialization mix, and workload across 10 doctors.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321040" y="2606040"/>
            <a:ext cx="3383280" cy="2926080"/>
          </a:xfrm>
          <a:prstGeom prst="roundRect">
            <a:avLst>
              <a:gd name="adj" fmla="val 2500"/>
            </a:avLst>
          </a:prstGeom>
          <a:solidFill>
            <a:srgbClr val="EEF7F6"/>
          </a:solidFill>
          <a:ln/>
        </p:spPr>
      </p:sp>
      <p:sp>
        <p:nvSpPr>
          <p:cNvPr id="20" name="Shape 18"/>
          <p:cNvSpPr/>
          <p:nvPr/>
        </p:nvSpPr>
        <p:spPr>
          <a:xfrm>
            <a:off x="9624060" y="2903220"/>
            <a:ext cx="777240" cy="777240"/>
          </a:xfrm>
          <a:prstGeom prst="ellipse">
            <a:avLst/>
          </a:prstGeom>
          <a:solidFill>
            <a:srgbClr val="1B998B"/>
          </a:solidFill>
          <a:ln/>
        </p:spPr>
      </p:sp>
      <p:sp>
        <p:nvSpPr>
          <p:cNvPr id="21" name="Shape 19"/>
          <p:cNvSpPr/>
          <p:nvPr/>
        </p:nvSpPr>
        <p:spPr>
          <a:xfrm>
            <a:off x="9830029" y="3276295"/>
            <a:ext cx="85496" cy="170993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Shape 20"/>
          <p:cNvSpPr/>
          <p:nvPr/>
        </p:nvSpPr>
        <p:spPr>
          <a:xfrm>
            <a:off x="9969932" y="3167482"/>
            <a:ext cx="85496" cy="27980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3" name="Shape 21"/>
          <p:cNvSpPr/>
          <p:nvPr/>
        </p:nvSpPr>
        <p:spPr>
          <a:xfrm>
            <a:off x="10109835" y="3229661"/>
            <a:ext cx="85496" cy="217627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Text 22"/>
          <p:cNvSpPr/>
          <p:nvPr/>
        </p:nvSpPr>
        <p:spPr>
          <a:xfrm>
            <a:off x="8549640" y="3931920"/>
            <a:ext cx="292608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73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&amp; Billing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173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8595360" y="4572000"/>
            <a:ext cx="28346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150" dirty="0">
                <a:solidFill>
                  <a:srgbClr val="5C7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billed vs. collected amounts and flag payment risk early.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 &amp; DESIGN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515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73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 &amp; Design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64008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173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 relational Power BI data model connecting Patients, Doctors, Appointments, Treatments and Billing into a single source of truth — enabling DAX-driven KPIs and a 3-page interactive dashboard.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40080" y="2697480"/>
            <a:ext cx="640080" cy="640080"/>
          </a:xfrm>
          <a:prstGeom prst="ellipse">
            <a:avLst/>
          </a:prstGeom>
          <a:solidFill>
            <a:srgbClr val="1B998B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269748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508760" y="269748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73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508760" y="3017520"/>
            <a:ext cx="5120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C7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Imported 5 source tables — Patients, Doctors, Appointments, Treatments, Billing — covering 200 appointment records.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40080" y="3931920"/>
            <a:ext cx="640080" cy="640080"/>
          </a:xfrm>
          <a:prstGeom prst="ellipse">
            <a:avLst/>
          </a:prstGeom>
          <a:solidFill>
            <a:srgbClr val="1B998B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39319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1508760" y="393192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73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508760" y="4251960"/>
            <a:ext cx="5120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C7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Connected the tables into a star schema via patient_id, doctor_id, appointment_id and treatment_id.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5166360"/>
            <a:ext cx="640080" cy="640080"/>
          </a:xfrm>
          <a:prstGeom prst="ellipse">
            <a:avLst/>
          </a:prstGeom>
          <a:solidFill>
            <a:srgbClr val="1B998B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51663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1508760" y="516636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73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508760" y="5486400"/>
            <a:ext cx="5120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C7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DAX measures and a 3-page report: Executive Dashboard, Doctors’ Performance, and Financials.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452360" y="1371600"/>
            <a:ext cx="4069080" cy="4937760"/>
          </a:xfrm>
          <a:prstGeom prst="roundRect">
            <a:avLst>
              <a:gd name="adj" fmla="val 1798"/>
            </a:avLst>
          </a:prstGeom>
          <a:solidFill>
            <a:srgbClr val="EEF7F6"/>
          </a:solidFill>
          <a:ln/>
        </p:spPr>
      </p:sp>
      <p:sp>
        <p:nvSpPr>
          <p:cNvPr id="18" name="Shape 16"/>
          <p:cNvSpPr/>
          <p:nvPr/>
        </p:nvSpPr>
        <p:spPr>
          <a:xfrm>
            <a:off x="9025128" y="1874520"/>
            <a:ext cx="914400" cy="914400"/>
          </a:xfrm>
          <a:prstGeom prst="ellipse">
            <a:avLst/>
          </a:prstGeom>
          <a:solidFill>
            <a:srgbClr val="1B998B"/>
          </a:solidFill>
          <a:ln/>
        </p:spPr>
      </p:sp>
      <p:sp>
        <p:nvSpPr>
          <p:cNvPr id="19" name="Shape 17"/>
          <p:cNvSpPr/>
          <p:nvPr/>
        </p:nvSpPr>
        <p:spPr>
          <a:xfrm>
            <a:off x="9267444" y="2194560"/>
            <a:ext cx="100584" cy="3200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Shape 18"/>
          <p:cNvSpPr/>
          <p:nvPr/>
        </p:nvSpPr>
        <p:spPr>
          <a:xfrm>
            <a:off x="9432036" y="2258568"/>
            <a:ext cx="100584" cy="2560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1" name="Shape 19"/>
          <p:cNvSpPr/>
          <p:nvPr/>
        </p:nvSpPr>
        <p:spPr>
          <a:xfrm>
            <a:off x="9596628" y="2194560"/>
            <a:ext cx="100584" cy="3200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7680960" y="2926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73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9482328" y="2788920"/>
            <a:ext cx="0" cy="1051560"/>
          </a:xfrm>
          <a:prstGeom prst="line">
            <a:avLst/>
          </a:prstGeom>
          <a:noFill/>
          <a:ln w="25400">
            <a:solidFill>
              <a:srgbClr val="4FB0AE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9025128" y="3383280"/>
            <a:ext cx="914400" cy="914400"/>
          </a:xfrm>
          <a:prstGeom prst="ellipse">
            <a:avLst/>
          </a:prstGeom>
          <a:solidFill>
            <a:srgbClr val="1B998B"/>
          </a:solidFill>
          <a:ln/>
        </p:spPr>
      </p:sp>
      <p:sp>
        <p:nvSpPr>
          <p:cNvPr id="25" name="Shape 23"/>
          <p:cNvSpPr/>
          <p:nvPr/>
        </p:nvSpPr>
        <p:spPr>
          <a:xfrm>
            <a:off x="9267444" y="3822192"/>
            <a:ext cx="100584" cy="20116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Shape 24"/>
          <p:cNvSpPr/>
          <p:nvPr/>
        </p:nvSpPr>
        <p:spPr>
          <a:xfrm>
            <a:off x="9432036" y="3694176"/>
            <a:ext cx="100584" cy="32918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7" name="Shape 25"/>
          <p:cNvSpPr/>
          <p:nvPr/>
        </p:nvSpPr>
        <p:spPr>
          <a:xfrm>
            <a:off x="9596628" y="3822192"/>
            <a:ext cx="100584" cy="20116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8" name="Text 26"/>
          <p:cNvSpPr/>
          <p:nvPr/>
        </p:nvSpPr>
        <p:spPr>
          <a:xfrm>
            <a:off x="7680960" y="443484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73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9482328" y="4297680"/>
            <a:ext cx="0" cy="1051560"/>
          </a:xfrm>
          <a:prstGeom prst="line">
            <a:avLst/>
          </a:prstGeom>
          <a:noFill/>
          <a:ln w="25400">
            <a:solidFill>
              <a:srgbClr val="4FB0AE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>
            <a:off x="9025128" y="4892040"/>
            <a:ext cx="914400" cy="914400"/>
          </a:xfrm>
          <a:prstGeom prst="ellipse">
            <a:avLst/>
          </a:prstGeom>
          <a:solidFill>
            <a:srgbClr val="1B998B"/>
          </a:solidFill>
          <a:ln/>
        </p:spPr>
      </p:sp>
      <p:sp>
        <p:nvSpPr>
          <p:cNvPr id="31" name="Shape 29"/>
          <p:cNvSpPr/>
          <p:nvPr/>
        </p:nvSpPr>
        <p:spPr>
          <a:xfrm>
            <a:off x="9267444" y="5330952"/>
            <a:ext cx="100584" cy="20116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2" name="Shape 30"/>
          <p:cNvSpPr/>
          <p:nvPr/>
        </p:nvSpPr>
        <p:spPr>
          <a:xfrm>
            <a:off x="9432036" y="5202936"/>
            <a:ext cx="100584" cy="32918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3" name="Shape 31"/>
          <p:cNvSpPr/>
          <p:nvPr/>
        </p:nvSpPr>
        <p:spPr>
          <a:xfrm>
            <a:off x="9596628" y="5276088"/>
            <a:ext cx="100584" cy="2560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4" name="Text 32"/>
          <p:cNvSpPr/>
          <p:nvPr/>
        </p:nvSpPr>
        <p:spPr>
          <a:xfrm>
            <a:off x="7680960" y="594360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73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&amp; TECHNIQUES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515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73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&amp; Techniques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325880"/>
            <a:ext cx="6583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C7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Power BI methods used to build a governed, interactive analytics model.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103120"/>
            <a:ext cx="5611430" cy="1234440"/>
          </a:xfrm>
          <a:prstGeom prst="roundRect">
            <a:avLst>
              <a:gd name="adj" fmla="val 5926"/>
            </a:avLst>
          </a:prstGeom>
          <a:solidFill>
            <a:srgbClr val="EEF7F6"/>
          </a:solidFill>
          <a:ln/>
        </p:spPr>
      </p:sp>
      <p:sp>
        <p:nvSpPr>
          <p:cNvPr id="6" name="Shape 4"/>
          <p:cNvSpPr/>
          <p:nvPr/>
        </p:nvSpPr>
        <p:spPr>
          <a:xfrm>
            <a:off x="982980" y="2423160"/>
            <a:ext cx="594360" cy="594360"/>
          </a:xfrm>
          <a:prstGeom prst="ellipse">
            <a:avLst/>
          </a:prstGeom>
          <a:solidFill>
            <a:srgbClr val="1B998B"/>
          </a:solidFill>
          <a:ln/>
        </p:spPr>
      </p:sp>
      <p:sp>
        <p:nvSpPr>
          <p:cNvPr id="7" name="Shape 5"/>
          <p:cNvSpPr/>
          <p:nvPr/>
        </p:nvSpPr>
        <p:spPr>
          <a:xfrm>
            <a:off x="1140485" y="2708453"/>
            <a:ext cx="65380" cy="13075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" name="Shape 6"/>
          <p:cNvSpPr/>
          <p:nvPr/>
        </p:nvSpPr>
        <p:spPr>
          <a:xfrm>
            <a:off x="1247470" y="2625242"/>
            <a:ext cx="65380" cy="21397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" name="Shape 7"/>
          <p:cNvSpPr/>
          <p:nvPr/>
        </p:nvSpPr>
        <p:spPr>
          <a:xfrm>
            <a:off x="1354455" y="2672791"/>
            <a:ext cx="65380" cy="166421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Text 8"/>
          <p:cNvSpPr/>
          <p:nvPr/>
        </p:nvSpPr>
        <p:spPr>
          <a:xfrm>
            <a:off x="1783080" y="2267712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73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 Desktop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1783080" y="2670048"/>
            <a:ext cx="4937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C7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modeling, table relationships, and multi-page report design.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40080" y="3520440"/>
            <a:ext cx="5611430" cy="1234440"/>
          </a:xfrm>
          <a:prstGeom prst="roundRect">
            <a:avLst>
              <a:gd name="adj" fmla="val 5926"/>
            </a:avLst>
          </a:prstGeom>
          <a:solidFill>
            <a:srgbClr val="EEF7F6"/>
          </a:solidFill>
          <a:ln/>
        </p:spPr>
      </p:sp>
      <p:sp>
        <p:nvSpPr>
          <p:cNvPr id="13" name="Shape 11"/>
          <p:cNvSpPr/>
          <p:nvPr/>
        </p:nvSpPr>
        <p:spPr>
          <a:xfrm>
            <a:off x="982980" y="3840480"/>
            <a:ext cx="594360" cy="594360"/>
          </a:xfrm>
          <a:prstGeom prst="ellipse">
            <a:avLst/>
          </a:prstGeom>
          <a:solidFill>
            <a:srgbClr val="1B998B"/>
          </a:solidFill>
          <a:ln/>
        </p:spPr>
      </p:sp>
      <p:sp>
        <p:nvSpPr>
          <p:cNvPr id="14" name="Shape 12"/>
          <p:cNvSpPr/>
          <p:nvPr/>
        </p:nvSpPr>
        <p:spPr>
          <a:xfrm>
            <a:off x="1140485" y="4125773"/>
            <a:ext cx="65380" cy="13075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" name="Shape 13"/>
          <p:cNvSpPr/>
          <p:nvPr/>
        </p:nvSpPr>
        <p:spPr>
          <a:xfrm>
            <a:off x="1247470" y="4042562"/>
            <a:ext cx="65380" cy="21397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Shape 14"/>
          <p:cNvSpPr/>
          <p:nvPr/>
        </p:nvSpPr>
        <p:spPr>
          <a:xfrm>
            <a:off x="1354455" y="4090111"/>
            <a:ext cx="65380" cy="166421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7" name="Text 15"/>
          <p:cNvSpPr/>
          <p:nvPr/>
        </p:nvSpPr>
        <p:spPr>
          <a:xfrm>
            <a:off x="1783080" y="3685032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73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DAX Measures &amp; Calculated Columns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1783080" y="4087368"/>
            <a:ext cx="4937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C7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CALCULATE, DIVIDE and FILTER patterns for rate and retention KPIs.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40080" y="4937760"/>
            <a:ext cx="5611430" cy="1234440"/>
          </a:xfrm>
          <a:prstGeom prst="roundRect">
            <a:avLst>
              <a:gd name="adj" fmla="val 5926"/>
            </a:avLst>
          </a:prstGeom>
          <a:solidFill>
            <a:srgbClr val="EEF7F6"/>
          </a:solidFill>
          <a:ln/>
        </p:spPr>
      </p:sp>
      <p:sp>
        <p:nvSpPr>
          <p:cNvPr id="20" name="Shape 18"/>
          <p:cNvSpPr/>
          <p:nvPr/>
        </p:nvSpPr>
        <p:spPr>
          <a:xfrm>
            <a:off x="982980" y="5257800"/>
            <a:ext cx="594360" cy="594360"/>
          </a:xfrm>
          <a:prstGeom prst="ellipse">
            <a:avLst/>
          </a:prstGeom>
          <a:solidFill>
            <a:srgbClr val="1B998B"/>
          </a:solidFill>
          <a:ln/>
        </p:spPr>
      </p:sp>
      <p:sp>
        <p:nvSpPr>
          <p:cNvPr id="21" name="Shape 19"/>
          <p:cNvSpPr/>
          <p:nvPr/>
        </p:nvSpPr>
        <p:spPr>
          <a:xfrm>
            <a:off x="1140485" y="5543093"/>
            <a:ext cx="65380" cy="13075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Shape 20"/>
          <p:cNvSpPr/>
          <p:nvPr/>
        </p:nvSpPr>
        <p:spPr>
          <a:xfrm>
            <a:off x="1247470" y="5459882"/>
            <a:ext cx="65380" cy="21397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3" name="Shape 21"/>
          <p:cNvSpPr/>
          <p:nvPr/>
        </p:nvSpPr>
        <p:spPr>
          <a:xfrm>
            <a:off x="1354455" y="5507431"/>
            <a:ext cx="65380" cy="166421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Text 22"/>
          <p:cNvSpPr/>
          <p:nvPr/>
        </p:nvSpPr>
        <p:spPr>
          <a:xfrm>
            <a:off x="1783080" y="5102352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73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 Schema Modeling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1783080" y="5504688"/>
            <a:ext cx="4937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C7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Appointments fact table linked to Patient, Doctor, Treatment and Billing dimensions.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9009583" y="3754526"/>
            <a:ext cx="221285" cy="44257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9" name="Shape 27"/>
          <p:cNvSpPr/>
          <p:nvPr/>
        </p:nvSpPr>
        <p:spPr>
          <a:xfrm>
            <a:off x="9371686" y="3472891"/>
            <a:ext cx="221285" cy="72420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0" name="Shape 28"/>
          <p:cNvSpPr/>
          <p:nvPr/>
        </p:nvSpPr>
        <p:spPr>
          <a:xfrm>
            <a:off x="9733788" y="3633826"/>
            <a:ext cx="221285" cy="56327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1" name="Text 29"/>
          <p:cNvSpPr/>
          <p:nvPr/>
        </p:nvSpPr>
        <p:spPr>
          <a:xfrm>
            <a:off x="7764171" y="562356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73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ENTIRELY</a:t>
            </a:r>
            <a:endParaRPr lang="en-US" sz="130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73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POWER BI</a:t>
            </a:r>
            <a:endParaRPr lang="en-US" sz="1300" dirty="0"/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7C0FA3F8-9592-58BA-64DF-24B46F7C13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6000" y="2103120"/>
            <a:ext cx="5541582" cy="34518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OVERVIEW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515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73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Overview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325880"/>
            <a:ext cx="6858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73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Range: </a:t>
            </a:r>
            <a:r>
              <a:rPr lang="en-US" sz="1400" dirty="0">
                <a:solidFill>
                  <a:srgbClr val="173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January 2023 — December 2023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691640"/>
            <a:ext cx="66751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5C7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covers 200 appointments linked to 50 registered patients and 10 doctors across 3 hospital branches and 3 specializations, with matching treatment and billing records for every visit.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40080" y="2880360"/>
            <a:ext cx="2148840" cy="1737360"/>
          </a:xfrm>
          <a:prstGeom prst="roundRect">
            <a:avLst>
              <a:gd name="adj" fmla="val 4211"/>
            </a:avLst>
          </a:prstGeom>
          <a:solidFill>
            <a:srgbClr val="EEF7F6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3035808"/>
            <a:ext cx="21488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640080" y="3703320"/>
            <a:ext cx="2148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73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31520" y="4023360"/>
            <a:ext cx="1965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050" dirty="0">
                <a:solidFill>
                  <a:srgbClr val="5C7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 active in 2023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2926080" y="2880360"/>
            <a:ext cx="2148840" cy="1737360"/>
          </a:xfrm>
          <a:prstGeom prst="roundRect">
            <a:avLst>
              <a:gd name="adj" fmla="val 4211"/>
            </a:avLst>
          </a:prstGeom>
          <a:solidFill>
            <a:srgbClr val="EEF7F6"/>
          </a:solidFill>
          <a:ln/>
        </p:spPr>
      </p:sp>
      <p:sp>
        <p:nvSpPr>
          <p:cNvPr id="11" name="Text 9"/>
          <p:cNvSpPr/>
          <p:nvPr/>
        </p:nvSpPr>
        <p:spPr>
          <a:xfrm>
            <a:off x="2926080" y="3035808"/>
            <a:ext cx="21488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2926080" y="3703320"/>
            <a:ext cx="2148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73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017520" y="4023360"/>
            <a:ext cx="1965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050" dirty="0">
                <a:solidFill>
                  <a:srgbClr val="5C7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branches · 3 specializations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212080" y="2880360"/>
            <a:ext cx="2148840" cy="1737360"/>
          </a:xfrm>
          <a:prstGeom prst="roundRect">
            <a:avLst>
              <a:gd name="adj" fmla="val 4211"/>
            </a:avLst>
          </a:prstGeom>
          <a:solidFill>
            <a:srgbClr val="EEF7F6"/>
          </a:solidFill>
          <a:ln/>
        </p:spPr>
      </p:sp>
      <p:sp>
        <p:nvSpPr>
          <p:cNvPr id="15" name="Text 13"/>
          <p:cNvSpPr/>
          <p:nvPr/>
        </p:nvSpPr>
        <p:spPr>
          <a:xfrm>
            <a:off x="5212080" y="3035808"/>
            <a:ext cx="21488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</a:t>
            </a:r>
            <a:endParaRPr lang="en-US" sz="3400" dirty="0"/>
          </a:p>
        </p:txBody>
      </p:sp>
      <p:sp>
        <p:nvSpPr>
          <p:cNvPr id="16" name="Text 14"/>
          <p:cNvSpPr/>
          <p:nvPr/>
        </p:nvSpPr>
        <p:spPr>
          <a:xfrm>
            <a:off x="5212080" y="3703320"/>
            <a:ext cx="2148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73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Appointments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303520" y="4023360"/>
            <a:ext cx="1965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050" dirty="0">
                <a:solidFill>
                  <a:srgbClr val="5C7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 – Dec 2023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8795968" y="164592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73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Doctors by Specialization</a:t>
            </a:r>
            <a:endParaRPr lang="en-US" sz="1300" dirty="0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C147C3A1-C570-8AE1-6667-38CABEB550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4708" y="2027727"/>
            <a:ext cx="4035505" cy="2628993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MODEL &amp; RELATIONSHIPS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515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73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Model &amp; Relationships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325880"/>
            <a:ext cx="10881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173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Appointments sits at the center as the fact table, linking Patient and Doctor dimensions and cascading into Treatments and Billing for a complete patient-to-payment view.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5257800" cy="1737360"/>
          </a:xfrm>
          <a:prstGeom prst="roundRect">
            <a:avLst>
              <a:gd name="adj" fmla="val 4211"/>
            </a:avLst>
          </a:prstGeom>
          <a:solidFill>
            <a:srgbClr val="EEF7F6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350008"/>
            <a:ext cx="4709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73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Calculated Fields (Measures)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14400" y="2715768"/>
            <a:ext cx="470916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5C7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No-Show Rate, Cancellation Rate, Completion Rate, Patient Retention, Avg Treatment Cost, Total Billed vs Collected — built with CALCULATE + DIVIDE.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263640" y="2148840"/>
            <a:ext cx="5257800" cy="1737360"/>
          </a:xfrm>
          <a:prstGeom prst="roundRect">
            <a:avLst>
              <a:gd name="adj" fmla="val 4211"/>
            </a:avLst>
          </a:prstGeom>
          <a:solidFill>
            <a:srgbClr val="EEF7F6"/>
          </a:solidFill>
          <a:ln/>
        </p:spPr>
      </p:sp>
      <p:sp>
        <p:nvSpPr>
          <p:cNvPr id="9" name="Text 7"/>
          <p:cNvSpPr/>
          <p:nvPr/>
        </p:nvSpPr>
        <p:spPr>
          <a:xfrm>
            <a:off x="6537960" y="2350008"/>
            <a:ext cx="4709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73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Enrichment (Calculated Columns)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537960" y="2715768"/>
            <a:ext cx="470916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5C7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Age, Age Group, Appointment Month and Doctor Experience Band, added for segmentation and chronological sorting.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640080" y="4160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 Schema Flow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22960" y="4572000"/>
            <a:ext cx="1737360" cy="777240"/>
          </a:xfrm>
          <a:prstGeom prst="roundRect">
            <a:avLst>
              <a:gd name="adj" fmla="val 7059"/>
            </a:avLst>
          </a:prstGeom>
          <a:solidFill>
            <a:srgbClr val="EEF7F6"/>
          </a:solidFill>
          <a:ln/>
        </p:spPr>
      </p:sp>
      <p:sp>
        <p:nvSpPr>
          <p:cNvPr id="13" name="Text 11"/>
          <p:cNvSpPr/>
          <p:nvPr/>
        </p:nvSpPr>
        <p:spPr>
          <a:xfrm>
            <a:off x="822960" y="4681728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73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Patients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822960" y="502920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C7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patient_id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017520" y="4572000"/>
            <a:ext cx="1737360" cy="777240"/>
          </a:xfrm>
          <a:prstGeom prst="roundRect">
            <a:avLst>
              <a:gd name="adj" fmla="val 7059"/>
            </a:avLst>
          </a:prstGeom>
          <a:solidFill>
            <a:srgbClr val="EEF7F6"/>
          </a:solidFill>
          <a:ln/>
        </p:spPr>
      </p:sp>
      <p:sp>
        <p:nvSpPr>
          <p:cNvPr id="16" name="Text 14"/>
          <p:cNvSpPr/>
          <p:nvPr/>
        </p:nvSpPr>
        <p:spPr>
          <a:xfrm>
            <a:off x="3017520" y="4681728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73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Doctors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3017520" y="502920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C7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doctor_id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212080" y="4572000"/>
            <a:ext cx="1737360" cy="777240"/>
          </a:xfrm>
          <a:prstGeom prst="roundRect">
            <a:avLst>
              <a:gd name="adj" fmla="val 7059"/>
            </a:avLst>
          </a:prstGeom>
          <a:solidFill>
            <a:srgbClr val="1B998B"/>
          </a:solidFill>
          <a:ln/>
        </p:spPr>
      </p:sp>
      <p:sp>
        <p:nvSpPr>
          <p:cNvPr id="19" name="Text 17"/>
          <p:cNvSpPr/>
          <p:nvPr/>
        </p:nvSpPr>
        <p:spPr>
          <a:xfrm>
            <a:off x="5212080" y="4681728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Appointments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5212080" y="502920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D7EC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appointment_id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7406640" y="4572000"/>
            <a:ext cx="1737360" cy="777240"/>
          </a:xfrm>
          <a:prstGeom prst="roundRect">
            <a:avLst>
              <a:gd name="adj" fmla="val 7059"/>
            </a:avLst>
          </a:prstGeom>
          <a:solidFill>
            <a:srgbClr val="EEF7F6"/>
          </a:solidFill>
          <a:ln/>
        </p:spPr>
      </p:sp>
      <p:sp>
        <p:nvSpPr>
          <p:cNvPr id="22" name="Text 20"/>
          <p:cNvSpPr/>
          <p:nvPr/>
        </p:nvSpPr>
        <p:spPr>
          <a:xfrm>
            <a:off x="7406640" y="4681728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73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Treatments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7406640" y="502920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C7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treatment_id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9601200" y="4572000"/>
            <a:ext cx="1737360" cy="777240"/>
          </a:xfrm>
          <a:prstGeom prst="roundRect">
            <a:avLst>
              <a:gd name="adj" fmla="val 7059"/>
            </a:avLst>
          </a:prstGeom>
          <a:solidFill>
            <a:srgbClr val="EEF7F6"/>
          </a:solidFill>
          <a:ln/>
        </p:spPr>
      </p:sp>
      <p:sp>
        <p:nvSpPr>
          <p:cNvPr id="25" name="Text 23"/>
          <p:cNvSpPr/>
          <p:nvPr/>
        </p:nvSpPr>
        <p:spPr>
          <a:xfrm>
            <a:off x="9601200" y="4681728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73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Billing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2560320" y="4960620"/>
            <a:ext cx="457200" cy="0"/>
          </a:xfrm>
          <a:prstGeom prst="line">
            <a:avLst/>
          </a:prstGeom>
          <a:noFill/>
          <a:ln w="25400">
            <a:solidFill>
              <a:srgbClr val="4FB0AE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4754880" y="4960620"/>
            <a:ext cx="457200" cy="0"/>
          </a:xfrm>
          <a:prstGeom prst="line">
            <a:avLst/>
          </a:prstGeom>
          <a:noFill/>
          <a:ln w="25400">
            <a:solidFill>
              <a:srgbClr val="4FB0AE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6949440" y="4960620"/>
            <a:ext cx="457200" cy="0"/>
          </a:xfrm>
          <a:prstGeom prst="line">
            <a:avLst/>
          </a:prstGeom>
          <a:noFill/>
          <a:ln w="25400">
            <a:solidFill>
              <a:srgbClr val="4FB0AE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9144000" y="4960620"/>
            <a:ext cx="457200" cy="0"/>
          </a:xfrm>
          <a:prstGeom prst="line">
            <a:avLst/>
          </a:prstGeom>
          <a:noFill/>
          <a:ln w="25400">
            <a:solidFill>
              <a:srgbClr val="4FB0AE"/>
            </a:solidFill>
            <a:prstDash val="solid"/>
            <a:tailEnd type="triangle"/>
          </a:ln>
        </p:spPr>
      </p:sp>
      <p:sp>
        <p:nvSpPr>
          <p:cNvPr id="30" name="Text 28"/>
          <p:cNvSpPr/>
          <p:nvPr/>
        </p:nvSpPr>
        <p:spPr>
          <a:xfrm>
            <a:off x="822960" y="5440680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C7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Dimension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5212080" y="5440680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 Table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FEATURES &amp; DASHBOARDS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515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73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Features &amp; Dashboards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325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C7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report pages moving from patient-level detail to financial performance — 22 visuals in total.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965960"/>
            <a:ext cx="3383280" cy="3566160"/>
          </a:xfrm>
          <a:prstGeom prst="roundRect">
            <a:avLst>
              <a:gd name="adj" fmla="val 2162"/>
            </a:avLst>
          </a:prstGeom>
          <a:solidFill>
            <a:srgbClr val="EEF7F6"/>
          </a:solidFill>
          <a:ln/>
        </p:spPr>
      </p:sp>
      <p:sp>
        <p:nvSpPr>
          <p:cNvPr id="6" name="Shape 4"/>
          <p:cNvSpPr/>
          <p:nvPr/>
        </p:nvSpPr>
        <p:spPr>
          <a:xfrm>
            <a:off x="1943100" y="2263140"/>
            <a:ext cx="777240" cy="777240"/>
          </a:xfrm>
          <a:prstGeom prst="ellipse">
            <a:avLst/>
          </a:prstGeom>
          <a:solidFill>
            <a:srgbClr val="1B998B"/>
          </a:solidFill>
          <a:ln/>
        </p:spPr>
      </p:sp>
      <p:sp>
        <p:nvSpPr>
          <p:cNvPr id="7" name="Shape 5"/>
          <p:cNvSpPr/>
          <p:nvPr/>
        </p:nvSpPr>
        <p:spPr>
          <a:xfrm>
            <a:off x="2149069" y="2636215"/>
            <a:ext cx="85496" cy="170993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" name="Shape 6"/>
          <p:cNvSpPr/>
          <p:nvPr/>
        </p:nvSpPr>
        <p:spPr>
          <a:xfrm>
            <a:off x="2288972" y="2527402"/>
            <a:ext cx="85496" cy="27980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" name="Shape 7"/>
          <p:cNvSpPr/>
          <p:nvPr/>
        </p:nvSpPr>
        <p:spPr>
          <a:xfrm>
            <a:off x="2428875" y="2589581"/>
            <a:ext cx="85496" cy="217627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Text 8"/>
          <p:cNvSpPr/>
          <p:nvPr/>
        </p:nvSpPr>
        <p:spPr>
          <a:xfrm>
            <a:off x="868680" y="3291840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73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Dashboard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914400" y="3794760"/>
            <a:ext cx="283464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100" dirty="0">
                <a:solidFill>
                  <a:srgbClr val="5C7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KPI cards, an appointment-trend area chart, status donut &amp; pie, and a branch slicer.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14400" y="507492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visuals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480560" y="1965960"/>
            <a:ext cx="3383280" cy="3566160"/>
          </a:xfrm>
          <a:prstGeom prst="roundRect">
            <a:avLst>
              <a:gd name="adj" fmla="val 2162"/>
            </a:avLst>
          </a:prstGeom>
          <a:solidFill>
            <a:srgbClr val="EEF7F6"/>
          </a:solidFill>
          <a:ln/>
        </p:spPr>
      </p:sp>
      <p:sp>
        <p:nvSpPr>
          <p:cNvPr id="14" name="Shape 12"/>
          <p:cNvSpPr/>
          <p:nvPr/>
        </p:nvSpPr>
        <p:spPr>
          <a:xfrm>
            <a:off x="5783580" y="2263140"/>
            <a:ext cx="777240" cy="777240"/>
          </a:xfrm>
          <a:prstGeom prst="ellipse">
            <a:avLst/>
          </a:prstGeom>
          <a:solidFill>
            <a:srgbClr val="1B998B"/>
          </a:solidFill>
          <a:ln/>
        </p:spPr>
      </p:sp>
      <p:sp>
        <p:nvSpPr>
          <p:cNvPr id="15" name="Shape 13"/>
          <p:cNvSpPr/>
          <p:nvPr/>
        </p:nvSpPr>
        <p:spPr>
          <a:xfrm>
            <a:off x="5989549" y="2636215"/>
            <a:ext cx="85496" cy="170993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Shape 14"/>
          <p:cNvSpPr/>
          <p:nvPr/>
        </p:nvSpPr>
        <p:spPr>
          <a:xfrm>
            <a:off x="6129452" y="2527402"/>
            <a:ext cx="85496" cy="27980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7" name="Shape 15"/>
          <p:cNvSpPr/>
          <p:nvPr/>
        </p:nvSpPr>
        <p:spPr>
          <a:xfrm>
            <a:off x="6269355" y="2589581"/>
            <a:ext cx="85496" cy="217627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" name="Text 16"/>
          <p:cNvSpPr/>
          <p:nvPr/>
        </p:nvSpPr>
        <p:spPr>
          <a:xfrm>
            <a:off x="4709160" y="3291840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73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Doctors’ Performance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4754880" y="3794760"/>
            <a:ext cx="283464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100" dirty="0">
                <a:solidFill>
                  <a:srgbClr val="5C7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 chart of appointments by doctor, specialization funnels, trend area chart, and a patient slicer.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754880" y="507492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visuals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8321040" y="1965960"/>
            <a:ext cx="3383280" cy="3566160"/>
          </a:xfrm>
          <a:prstGeom prst="roundRect">
            <a:avLst>
              <a:gd name="adj" fmla="val 2162"/>
            </a:avLst>
          </a:prstGeom>
          <a:solidFill>
            <a:srgbClr val="EEF7F6"/>
          </a:solidFill>
          <a:ln/>
        </p:spPr>
      </p:sp>
      <p:sp>
        <p:nvSpPr>
          <p:cNvPr id="22" name="Shape 20"/>
          <p:cNvSpPr/>
          <p:nvPr/>
        </p:nvSpPr>
        <p:spPr>
          <a:xfrm>
            <a:off x="9624060" y="2263140"/>
            <a:ext cx="777240" cy="777240"/>
          </a:xfrm>
          <a:prstGeom prst="ellipse">
            <a:avLst/>
          </a:prstGeom>
          <a:solidFill>
            <a:srgbClr val="1B998B"/>
          </a:solidFill>
          <a:ln/>
        </p:spPr>
      </p:sp>
      <p:sp>
        <p:nvSpPr>
          <p:cNvPr id="23" name="Shape 21"/>
          <p:cNvSpPr/>
          <p:nvPr/>
        </p:nvSpPr>
        <p:spPr>
          <a:xfrm>
            <a:off x="9830029" y="2636215"/>
            <a:ext cx="85496" cy="170993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Shape 22"/>
          <p:cNvSpPr/>
          <p:nvPr/>
        </p:nvSpPr>
        <p:spPr>
          <a:xfrm>
            <a:off x="9969932" y="2527402"/>
            <a:ext cx="85496" cy="27980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Shape 23"/>
          <p:cNvSpPr/>
          <p:nvPr/>
        </p:nvSpPr>
        <p:spPr>
          <a:xfrm>
            <a:off x="10109835" y="2589581"/>
            <a:ext cx="85496" cy="217627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8549640" y="3291840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73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Financials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8595360" y="3794760"/>
            <a:ext cx="283464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100" dirty="0">
                <a:solidFill>
                  <a:srgbClr val="5C7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Payment-status pie, billed-vs-collected line chart, a billing detail table, and a payment funnel.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8595360" y="507492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visuals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SUMMARY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515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73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Summary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325880"/>
            <a:ext cx="6400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173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₹5.51L billed across 200 appointments in 2023 — but only 31.5% has been collected, while no-shows and cancellations together account for over half of all bookings.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377440"/>
            <a:ext cx="1508760" cy="1234440"/>
          </a:xfrm>
          <a:prstGeom prst="roundRect">
            <a:avLst>
              <a:gd name="adj" fmla="val 5926"/>
            </a:avLst>
          </a:prstGeom>
          <a:solidFill>
            <a:srgbClr val="EEF7F6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2487168"/>
            <a:ext cx="1508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23%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40080" y="2999232"/>
            <a:ext cx="1508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000" dirty="0">
                <a:solidFill>
                  <a:srgbClr val="5C7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Completion</a:t>
            </a:r>
            <a:endParaRPr lang="en-US" sz="1000" dirty="0"/>
          </a:p>
          <a:p>
            <a:pPr marL="0" indent="0" algn="ctr">
              <a:lnSpc>
                <a:spcPct val="110000"/>
              </a:lnSpc>
              <a:buNone/>
            </a:pPr>
            <a:r>
              <a:rPr lang="en-US" sz="1000" dirty="0">
                <a:solidFill>
                  <a:srgbClr val="5C7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267712" y="2377440"/>
            <a:ext cx="1508760" cy="1234440"/>
          </a:xfrm>
          <a:prstGeom prst="roundRect">
            <a:avLst>
              <a:gd name="adj" fmla="val 5926"/>
            </a:avLst>
          </a:prstGeom>
          <a:solidFill>
            <a:srgbClr val="EEF7F6"/>
          </a:solidFill>
          <a:ln/>
        </p:spPr>
      </p:sp>
      <p:sp>
        <p:nvSpPr>
          <p:cNvPr id="9" name="Text 7"/>
          <p:cNvSpPr/>
          <p:nvPr/>
        </p:nvSpPr>
        <p:spPr>
          <a:xfrm>
            <a:off x="2267712" y="2487168"/>
            <a:ext cx="1508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E155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26%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2267712" y="2999232"/>
            <a:ext cx="1508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000" dirty="0">
                <a:solidFill>
                  <a:srgbClr val="5C7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No-Show</a:t>
            </a:r>
            <a:endParaRPr lang="en-US" sz="1000" dirty="0"/>
          </a:p>
          <a:p>
            <a:pPr marL="0" indent="0" algn="ctr">
              <a:lnSpc>
                <a:spcPct val="110000"/>
              </a:lnSpc>
              <a:buNone/>
            </a:pPr>
            <a:r>
              <a:rPr lang="en-US" sz="1000" dirty="0">
                <a:solidFill>
                  <a:srgbClr val="5C7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895344" y="2377440"/>
            <a:ext cx="1508760" cy="1234440"/>
          </a:xfrm>
          <a:prstGeom prst="roundRect">
            <a:avLst>
              <a:gd name="adj" fmla="val 5926"/>
            </a:avLst>
          </a:prstGeom>
          <a:solidFill>
            <a:srgbClr val="EEF7F6"/>
          </a:solidFill>
          <a:ln/>
        </p:spPr>
      </p:sp>
      <p:sp>
        <p:nvSpPr>
          <p:cNvPr id="12" name="Text 10"/>
          <p:cNvSpPr/>
          <p:nvPr/>
        </p:nvSpPr>
        <p:spPr>
          <a:xfrm>
            <a:off x="3895344" y="2487168"/>
            <a:ext cx="1508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E155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31.5%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3895344" y="2999232"/>
            <a:ext cx="1508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000" dirty="0">
                <a:solidFill>
                  <a:srgbClr val="5C7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Collection</a:t>
            </a:r>
            <a:endParaRPr lang="en-US" sz="1000" dirty="0"/>
          </a:p>
          <a:p>
            <a:pPr marL="0" indent="0" algn="ctr">
              <a:lnSpc>
                <a:spcPct val="110000"/>
              </a:lnSpc>
              <a:buNone/>
            </a:pPr>
            <a:r>
              <a:rPr lang="en-US" sz="1000" dirty="0">
                <a:solidFill>
                  <a:srgbClr val="5C7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522976" y="2377440"/>
            <a:ext cx="1508760" cy="1234440"/>
          </a:xfrm>
          <a:prstGeom prst="roundRect">
            <a:avLst>
              <a:gd name="adj" fmla="val 5926"/>
            </a:avLst>
          </a:prstGeom>
          <a:solidFill>
            <a:srgbClr val="EEF7F6"/>
          </a:solidFill>
          <a:ln/>
        </p:spPr>
      </p:sp>
      <p:sp>
        <p:nvSpPr>
          <p:cNvPr id="15" name="Text 13"/>
          <p:cNvSpPr/>
          <p:nvPr/>
        </p:nvSpPr>
        <p:spPr>
          <a:xfrm>
            <a:off x="5522976" y="2487168"/>
            <a:ext cx="1508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5522976" y="2999232"/>
            <a:ext cx="1508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000" dirty="0">
                <a:solidFill>
                  <a:srgbClr val="5C7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Patient</a:t>
            </a:r>
            <a:endParaRPr lang="en-US" sz="1000" dirty="0"/>
          </a:p>
          <a:p>
            <a:pPr marL="0" indent="0" algn="ctr">
              <a:lnSpc>
                <a:spcPct val="110000"/>
              </a:lnSpc>
              <a:buNone/>
            </a:pPr>
            <a:r>
              <a:rPr lang="en-US" sz="1000" dirty="0">
                <a:solidFill>
                  <a:srgbClr val="5C7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Retention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452360" y="13258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73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Appointments by Status</a:t>
            </a:r>
            <a:endParaRPr lang="en-US" sz="1250" dirty="0"/>
          </a:p>
        </p:txBody>
      </p:sp>
      <p:graphicFrame>
        <p:nvGraphicFramePr>
          <p:cNvPr id="18" name="Chart 0"/>
          <p:cNvGraphicFramePr/>
          <p:nvPr/>
        </p:nvGraphicFramePr>
        <p:xfrm>
          <a:off x="7452360" y="1645920"/>
          <a:ext cx="4069080" cy="21031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9" name="Shape 16"/>
          <p:cNvSpPr/>
          <p:nvPr/>
        </p:nvSpPr>
        <p:spPr>
          <a:xfrm>
            <a:off x="640080" y="3977640"/>
            <a:ext cx="3520440" cy="2377440"/>
          </a:xfrm>
          <a:prstGeom prst="roundRect">
            <a:avLst>
              <a:gd name="adj" fmla="val 3077"/>
            </a:avLst>
          </a:prstGeom>
          <a:solidFill>
            <a:srgbClr val="EEF7F6"/>
          </a:solidFill>
          <a:ln/>
        </p:spPr>
      </p:sp>
      <p:sp>
        <p:nvSpPr>
          <p:cNvPr id="20" name="Text 17"/>
          <p:cNvSpPr/>
          <p:nvPr/>
        </p:nvSpPr>
        <p:spPr>
          <a:xfrm>
            <a:off x="868680" y="4160520"/>
            <a:ext cx="3063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73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Strengths</a:t>
            </a:r>
            <a:endParaRPr lang="en-US" sz="1350" dirty="0"/>
          </a:p>
        </p:txBody>
      </p:sp>
      <p:sp>
        <p:nvSpPr>
          <p:cNvPr id="21" name="Text 18"/>
          <p:cNvSpPr/>
          <p:nvPr/>
        </p:nvSpPr>
        <p:spPr>
          <a:xfrm>
            <a:off x="868680" y="4572000"/>
            <a:ext cx="306324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5C7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patient retention — every active patient returned for a repeat visit.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4480560" y="3977640"/>
            <a:ext cx="3520440" cy="2377440"/>
          </a:xfrm>
          <a:prstGeom prst="roundRect">
            <a:avLst>
              <a:gd name="adj" fmla="val 3077"/>
            </a:avLst>
          </a:prstGeom>
          <a:solidFill>
            <a:srgbClr val="EEF7F6"/>
          </a:solidFill>
          <a:ln/>
        </p:spPr>
      </p:sp>
      <p:sp>
        <p:nvSpPr>
          <p:cNvPr id="23" name="Text 20"/>
          <p:cNvSpPr/>
          <p:nvPr/>
        </p:nvSpPr>
        <p:spPr>
          <a:xfrm>
            <a:off x="4709160" y="4160520"/>
            <a:ext cx="3063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73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Opportunities</a:t>
            </a:r>
            <a:endParaRPr lang="en-US" sz="1350" dirty="0"/>
          </a:p>
        </p:txBody>
      </p:sp>
      <p:sp>
        <p:nvSpPr>
          <p:cNvPr id="24" name="Text 21"/>
          <p:cNvSpPr/>
          <p:nvPr/>
        </p:nvSpPr>
        <p:spPr>
          <a:xfrm>
            <a:off x="4709160" y="4572000"/>
            <a:ext cx="306324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5C7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No-shows and cancellations together exceed completed visits — reminder workflows and </a:t>
            </a:r>
            <a:r>
              <a:rPr lang="en-US" sz="1100">
                <a:solidFill>
                  <a:srgbClr val="5C7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 charges could </a:t>
            </a:r>
            <a:r>
              <a:rPr lang="en-US" sz="1100" dirty="0">
                <a:solidFill>
                  <a:srgbClr val="5C7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 capacity.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8321040" y="3977640"/>
            <a:ext cx="3520440" cy="2377440"/>
          </a:xfrm>
          <a:prstGeom prst="roundRect">
            <a:avLst>
              <a:gd name="adj" fmla="val 3077"/>
            </a:avLst>
          </a:prstGeom>
          <a:solidFill>
            <a:srgbClr val="EEF7F6"/>
          </a:solidFill>
          <a:ln/>
        </p:spPr>
      </p:sp>
      <p:sp>
        <p:nvSpPr>
          <p:cNvPr id="26" name="Text 23"/>
          <p:cNvSpPr/>
          <p:nvPr/>
        </p:nvSpPr>
        <p:spPr>
          <a:xfrm>
            <a:off x="8549640" y="4160520"/>
            <a:ext cx="3063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73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Improvements</a:t>
            </a:r>
            <a:endParaRPr lang="en-US" sz="1350" dirty="0"/>
          </a:p>
        </p:txBody>
      </p:sp>
      <p:sp>
        <p:nvSpPr>
          <p:cNvPr id="27" name="Text 24"/>
          <p:cNvSpPr/>
          <p:nvPr/>
        </p:nvSpPr>
        <p:spPr>
          <a:xfrm>
            <a:off x="8549640" y="4572000"/>
            <a:ext cx="306324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5C7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Chase the 68.5% of billed revenue still pending or failed, starting with the largest balances.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DASHBOARD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515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73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Dashboard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325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5C7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3-page interactive Power BI report — Executive Dashboard, Doctors’ Performance, and Financials.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77240" y="2011680"/>
            <a:ext cx="3246120" cy="411480"/>
          </a:xfrm>
          <a:prstGeom prst="roundRect">
            <a:avLst>
              <a:gd name="adj" fmla="val 11111"/>
            </a:avLst>
          </a:prstGeom>
          <a:solidFill>
            <a:srgbClr val="0B3D3D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7" name="Text 5"/>
          <p:cNvSpPr/>
          <p:nvPr/>
        </p:nvSpPr>
        <p:spPr>
          <a:xfrm>
            <a:off x="777240" y="2011680"/>
            <a:ext cx="3246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Dashboard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777240" y="5577840"/>
            <a:ext cx="3246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C7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 total appointments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617720" y="2011680"/>
            <a:ext cx="3246120" cy="411480"/>
          </a:xfrm>
          <a:prstGeom prst="roundRect">
            <a:avLst>
              <a:gd name="adj" fmla="val 11111"/>
            </a:avLst>
          </a:prstGeom>
          <a:solidFill>
            <a:srgbClr val="0B3D3D"/>
          </a:solidFill>
          <a:ln/>
        </p:spPr>
      </p:sp>
      <p:sp>
        <p:nvSpPr>
          <p:cNvPr id="12" name="Text 9"/>
          <p:cNvSpPr/>
          <p:nvPr/>
        </p:nvSpPr>
        <p:spPr>
          <a:xfrm>
            <a:off x="4617720" y="2011680"/>
            <a:ext cx="3246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Doctors’ Performance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8458200" y="2011680"/>
            <a:ext cx="3246120" cy="411480"/>
          </a:xfrm>
          <a:prstGeom prst="roundRect">
            <a:avLst>
              <a:gd name="adj" fmla="val 11111"/>
            </a:avLst>
          </a:prstGeom>
          <a:solidFill>
            <a:srgbClr val="0B3D3D"/>
          </a:solidFill>
          <a:ln/>
        </p:spPr>
      </p:sp>
      <p:sp>
        <p:nvSpPr>
          <p:cNvPr id="16" name="Text 12"/>
          <p:cNvSpPr/>
          <p:nvPr/>
        </p:nvSpPr>
        <p:spPr>
          <a:xfrm>
            <a:off x="8458200" y="2011680"/>
            <a:ext cx="3246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Financials</a:t>
            </a:r>
            <a:endParaRPr lang="en-US" sz="1100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52FC133F-2116-44D1-FD43-5B02CDFCD5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1859" y="2508624"/>
            <a:ext cx="4175760" cy="3035473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A766222D-B977-9C1C-BF97-552A328261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79019" y="2508624"/>
            <a:ext cx="4023359" cy="3035473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7A7EA116-F69D-FE53-2C22-795BEA0AB00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02378" y="2496920"/>
            <a:ext cx="3807811" cy="30352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 &amp; LEARNING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515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73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 &amp; Learning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463040"/>
            <a:ext cx="649224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73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project delivered a governed Power BI model that unifies patient, doctor, treatment and billing data to answer questions about operational efficiency, doctor workload, and revenue collection. Building it strengthened skills in star-schema relationship design, DAX pattern-building (CALCULATE, DIVIDE, FILTER), and turning raw rates into decision-ready KPIs for a non-technical audience.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3931920"/>
            <a:ext cx="2926080" cy="502920"/>
          </a:xfrm>
          <a:prstGeom prst="roundRect">
            <a:avLst>
              <a:gd name="adj" fmla="val 50909"/>
            </a:avLst>
          </a:prstGeom>
          <a:solidFill>
            <a:srgbClr val="EEF7F6"/>
          </a:solidFill>
          <a:ln/>
        </p:spPr>
      </p:sp>
      <p:sp>
        <p:nvSpPr>
          <p:cNvPr id="6" name="Shape 4"/>
          <p:cNvSpPr/>
          <p:nvPr/>
        </p:nvSpPr>
        <p:spPr>
          <a:xfrm>
            <a:off x="822960" y="4078224"/>
            <a:ext cx="201168" cy="201168"/>
          </a:xfrm>
          <a:prstGeom prst="ellipse">
            <a:avLst/>
          </a:prstGeom>
          <a:solidFill>
            <a:srgbClr val="1B998B"/>
          </a:solidFill>
          <a:ln/>
        </p:spPr>
      </p:sp>
      <p:sp>
        <p:nvSpPr>
          <p:cNvPr id="7" name="Text 5"/>
          <p:cNvSpPr/>
          <p:nvPr/>
        </p:nvSpPr>
        <p:spPr>
          <a:xfrm>
            <a:off x="1143000" y="3931920"/>
            <a:ext cx="2331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73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Modeling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40080" y="4553712"/>
            <a:ext cx="2926080" cy="502920"/>
          </a:xfrm>
          <a:prstGeom prst="roundRect">
            <a:avLst>
              <a:gd name="adj" fmla="val 50909"/>
            </a:avLst>
          </a:prstGeom>
          <a:solidFill>
            <a:srgbClr val="EEF7F6"/>
          </a:solidFill>
          <a:ln/>
        </p:spPr>
      </p:sp>
      <p:sp>
        <p:nvSpPr>
          <p:cNvPr id="9" name="Shape 7"/>
          <p:cNvSpPr/>
          <p:nvPr/>
        </p:nvSpPr>
        <p:spPr>
          <a:xfrm>
            <a:off x="822960" y="4700016"/>
            <a:ext cx="201168" cy="201168"/>
          </a:xfrm>
          <a:prstGeom prst="ellipse">
            <a:avLst/>
          </a:prstGeom>
          <a:solidFill>
            <a:srgbClr val="1B998B"/>
          </a:solidFill>
          <a:ln/>
        </p:spPr>
      </p:sp>
      <p:sp>
        <p:nvSpPr>
          <p:cNvPr id="10" name="Text 8"/>
          <p:cNvSpPr/>
          <p:nvPr/>
        </p:nvSpPr>
        <p:spPr>
          <a:xfrm>
            <a:off x="1143000" y="4553712"/>
            <a:ext cx="2331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73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DAX Measures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5175504"/>
            <a:ext cx="2926080" cy="502920"/>
          </a:xfrm>
          <a:prstGeom prst="roundRect">
            <a:avLst>
              <a:gd name="adj" fmla="val 50909"/>
            </a:avLst>
          </a:prstGeom>
          <a:solidFill>
            <a:srgbClr val="EEF7F6"/>
          </a:solidFill>
          <a:ln/>
        </p:spPr>
      </p:sp>
      <p:sp>
        <p:nvSpPr>
          <p:cNvPr id="12" name="Shape 10"/>
          <p:cNvSpPr/>
          <p:nvPr/>
        </p:nvSpPr>
        <p:spPr>
          <a:xfrm>
            <a:off x="822960" y="5321808"/>
            <a:ext cx="201168" cy="201168"/>
          </a:xfrm>
          <a:prstGeom prst="ellipse">
            <a:avLst/>
          </a:prstGeom>
          <a:solidFill>
            <a:srgbClr val="1B998B"/>
          </a:solidFill>
          <a:ln/>
        </p:spPr>
      </p:sp>
      <p:sp>
        <p:nvSpPr>
          <p:cNvPr id="13" name="Text 11"/>
          <p:cNvSpPr/>
          <p:nvPr/>
        </p:nvSpPr>
        <p:spPr>
          <a:xfrm>
            <a:off x="1143000" y="5175504"/>
            <a:ext cx="2331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73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Storytelling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40080" y="5797296"/>
            <a:ext cx="2926080" cy="502920"/>
          </a:xfrm>
          <a:prstGeom prst="roundRect">
            <a:avLst>
              <a:gd name="adj" fmla="val 50909"/>
            </a:avLst>
          </a:prstGeom>
          <a:solidFill>
            <a:srgbClr val="EEF7F6"/>
          </a:solidFill>
          <a:ln/>
        </p:spPr>
      </p:sp>
      <p:sp>
        <p:nvSpPr>
          <p:cNvPr id="15" name="Shape 13"/>
          <p:cNvSpPr/>
          <p:nvPr/>
        </p:nvSpPr>
        <p:spPr>
          <a:xfrm>
            <a:off x="822960" y="5943600"/>
            <a:ext cx="201168" cy="201168"/>
          </a:xfrm>
          <a:prstGeom prst="ellipse">
            <a:avLst/>
          </a:prstGeom>
          <a:solidFill>
            <a:srgbClr val="1B998B"/>
          </a:solidFill>
          <a:ln/>
        </p:spPr>
      </p:sp>
      <p:sp>
        <p:nvSpPr>
          <p:cNvPr id="16" name="Text 14"/>
          <p:cNvSpPr/>
          <p:nvPr/>
        </p:nvSpPr>
        <p:spPr>
          <a:xfrm>
            <a:off x="1143000" y="5797296"/>
            <a:ext cx="2331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73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Design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452360" y="1371600"/>
            <a:ext cx="4069080" cy="4937760"/>
          </a:xfrm>
          <a:prstGeom prst="roundRect">
            <a:avLst>
              <a:gd name="adj" fmla="val 1798"/>
            </a:avLst>
          </a:prstGeom>
          <a:solidFill>
            <a:srgbClr val="0B3D3D"/>
          </a:solidFill>
          <a:ln/>
        </p:spPr>
      </p:sp>
      <p:sp>
        <p:nvSpPr>
          <p:cNvPr id="18" name="Shape 16"/>
          <p:cNvSpPr/>
          <p:nvPr/>
        </p:nvSpPr>
        <p:spPr>
          <a:xfrm>
            <a:off x="8567928" y="2377440"/>
            <a:ext cx="1828800" cy="1828800"/>
          </a:xfrm>
          <a:prstGeom prst="ellipse">
            <a:avLst/>
          </a:prstGeom>
          <a:solidFill>
            <a:srgbClr val="1B998B"/>
          </a:solidFill>
          <a:ln/>
        </p:spPr>
      </p:sp>
      <p:sp>
        <p:nvSpPr>
          <p:cNvPr id="19" name="Shape 17"/>
          <p:cNvSpPr/>
          <p:nvPr/>
        </p:nvSpPr>
        <p:spPr>
          <a:xfrm>
            <a:off x="9052560" y="3255264"/>
            <a:ext cx="201168" cy="402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Shape 18"/>
          <p:cNvSpPr/>
          <p:nvPr/>
        </p:nvSpPr>
        <p:spPr>
          <a:xfrm>
            <a:off x="9381744" y="2999232"/>
            <a:ext cx="201168" cy="65836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1" name="Shape 19"/>
          <p:cNvSpPr/>
          <p:nvPr/>
        </p:nvSpPr>
        <p:spPr>
          <a:xfrm>
            <a:off x="9710928" y="3145536"/>
            <a:ext cx="201168" cy="51206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7680960" y="4434840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RAW DATA</a:t>
            </a:r>
            <a:endParaRPr lang="en-US" sz="140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DECISIONS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3D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005840"/>
            <a:ext cx="3291840" cy="3291840"/>
          </a:xfrm>
          <a:prstGeom prst="ellipse">
            <a:avLst/>
          </a:prstGeom>
          <a:solidFill>
            <a:srgbClr val="1B998B">
              <a:alpha val="2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-274320"/>
            <a:ext cx="2011680" cy="2011680"/>
          </a:xfrm>
          <a:prstGeom prst="ellipse">
            <a:avLst/>
          </a:prstGeom>
          <a:solidFill>
            <a:srgbClr val="4FB0AE">
              <a:alpha val="3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064240" y="548640"/>
            <a:ext cx="1005840" cy="1005840"/>
          </a:xfrm>
          <a:prstGeom prst="ellipse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2468880"/>
            <a:ext cx="91440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You!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804672" y="34290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i="1" dirty="0">
                <a:solidFill>
                  <a:srgbClr val="4FB0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are Welcome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804672" y="40233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D7EC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appreciate your time and interest in the Healthcare Analytics Dashboard.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48</TotalTime>
  <Words>813</Words>
  <Application>Microsoft Office PowerPoint</Application>
  <PresentationFormat>Widescreen</PresentationFormat>
  <Paragraphs>133</Paragraphs>
  <Slides>11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Sudeep Sarkar</cp:lastModifiedBy>
  <cp:revision>2</cp:revision>
  <dcterms:created xsi:type="dcterms:W3CDTF">2026-09-20T19:54:37Z</dcterms:created>
  <dcterms:modified xsi:type="dcterms:W3CDTF">2026-09-21T05:48:57Z</dcterms:modified>
</cp:coreProperties>
</file>